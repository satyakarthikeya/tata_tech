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1bb5e31-a646-9527-e5c5-4c648f9c9ba4}">
          <p14:sldIdLst>
            <p14:sldId id="256"/>
          </p14:sldIdLst>
        </p14:section>
        <p14:section name="Context" id="{5527e598-9b43-d7e2-c582-5950c114f027}">
          <p14:sldIdLst>
            <p14:sldId id="257"/>
            <p14:sldId id="258"/>
            <p14:sldId id="259"/>
          </p14:sldIdLst>
        </p14:section>
        <p14:section name="Method" id="{4f885507-be59-d20f-cd10-f946f3f54ca6}">
          <p14:sldIdLst>
            <p14:sldId id="260"/>
            <p14:sldId id="261"/>
          </p14:sldIdLst>
        </p14:section>
        <p14:section name="Evidence" id="{ab22221a-3764-f1a5-d65f-bca63f5d0fb9}">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Bugs caught</c:v>
                </c:pt>
              </c:strCache>
            </c:strRef>
          </c:tx>
          <c:spPr>
            <a:solidFill>
              <a:srgbClr val="0E7C86"/>
            </a:solidFill>
            <a:effectLst/>
          </c:spPr>
          <c:invertIfNegative val="0"/>
          <c:dLbls>
            <c:numFmt formatCode="#,##0"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Generated tests (79)</c:v>
                  </c:pt>
                  <c:pt idx="1">
                    <c:v>Conformance sweep (1200)</c:v>
                  </c:pt>
                  <c:pt idx="2">
                    <c:v>Both together</c:v>
                  </c:pt>
                </c:lvl>
              </c:multiLvlStrCache>
            </c:multiLvlStrRef>
          </c:cat>
          <c:val>
            <c:numRef>
              <c:f>Sheet1!$B$2:$B$4</c:f>
              <c:numCache>
                <c:formatCode>General</c:formatCode>
                <c:ptCount val="3"/>
                <c:pt idx="0">
                  <c:v>2</c:v>
                </c:pt>
                <c:pt idx="1">
                  <c:v>9</c:v>
                </c:pt>
                <c:pt idx="2">
                  <c:v>9</c:v>
                </c:pt>
              </c:numCache>
            </c:numRef>
          </c:val>
        </c:ser>
        <c:dLbls>
          <c:numFmt formatCode="#,##0" sourceLinked="0"/>
          <c:txPr>
            <a:bodyPr/>
            <a:lstStyle/>
            <a:p>
              <a:pPr>
                <a:defRPr b="0" i="0" strike="noStrike" sz="14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b"/>
        <c:majorGridlines>
          <c:spPr>
            <a:ln w="9525" cap="flat">
              <a:solidFill>
                <a:srgbClr val="E2E8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673"/>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5 from the Automotive Engineering AI case study document: a local assistant that helps test engineers interpret diagnostic specifications, construct valid requests, generate test cases and validate expected ECU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as the case study states it: engineers interpret ISO 14229 with OEM and ECU specifics, build request bytes by hand, work out session and security prerequisites, predict positive and negative responses and then script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objectives of Case Study 5, in our wording. Each maps to a part of the system: Ask and the request checker (interpretation and validation), the template-based generator (consistency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table is copied from the case study. We stay inside it: nothing runs on a production vehicle, all knowledge is own-words or synthetic, and ECU behaviour is never accepted automatically without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principle: the language model handles language only, code handles correctness. That is why a small local 3B model is enough. The next slide shows the pipeline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left to right: requirement, parse (language model), retrieve evidence from four local collections, plan (language model picks templates), instantiate (templates and the rules engine build every byte), validate, explain (prose only), engineer review, run on the simulator with an optional injected bug, then export pytest and CAPL, a coverage report and an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numbers that follow are measured on synthetic data in one run with a small local model. Validity and clean-pass are high by construction because the rules engine builds the bytes; the independent evidence is the blind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the evaluation report of one run. The independent evidence is on the next slide: bugs injected into a simulator and caught or missed by the tests, and blind questions and requirements written without seeing the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sweep is a requirement-independent conformance suite of 1200 tests; together with the generated tests it catches 9 of 15 blind bugs, so six remain missed. Question answering: 19 of 21 correct with citations, 3 of 4 unanswerable questions refused. Requirement understanding is the weakest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dot"/>
          <p:cNvSpPr/>
          <p:nvPr/>
        </p:nvSpPr>
        <p:spPr>
          <a:xfrm>
            <a:off x="731520" y="2057400"/>
            <a:ext cx="256032" cy="256032"/>
          </a:xfrm>
          <a:prstGeom prst="ellipse">
            <a:avLst/>
          </a:prstGeom>
          <a:solidFill>
            <a:schemeClr val="accent1"/>
          </a:solidFill>
          <a:ln w="12700">
            <a:solidFill>
              <a:schemeClr val="accent1"/>
            </a:solidFill>
            <a:prstDash val="solid"/>
          </a:ln>
        </p:spPr>
      </p:sp>
      <p:sp>
        <p:nvSpPr>
          <p:cNvPr id="3" name="Title"/>
          <p:cNvSpPr txBox="1"/>
          <p:nvPr/>
        </p:nvSpPr>
        <p:spPr>
          <a:xfrm>
            <a:off x="731520" y="2468880"/>
            <a:ext cx="10241280" cy="1554480"/>
          </a:xfrm>
          <a:prstGeom prst="rect">
            <a:avLst/>
          </a:prstGeom>
          <a:noFill/>
          <a:ln/>
        </p:spPr>
        <p:txBody>
          <a:bodyPr wrap="square" lIns="0" tIns="0" rIns="0" bIns="0" rtlCol="0" anchor="t"/>
          <a:lstStyle/>
          <a:p>
            <a:pPr indent="0" marL="0">
              <a:buNone/>
            </a:pPr>
            <a:r>
              <a:rPr lang="en-US" sz="4400" b="1" dirty="0">
                <a:solidFill>
                  <a:schemeClr val="tx1"/>
                </a:solidFill>
              </a:rPr>
              <a:t>UDS Diagnostics and Automated Test Generation Assistant</a:t>
            </a:r>
            <a:endParaRPr lang="en-US" sz="4400" dirty="0"/>
          </a:p>
        </p:txBody>
      </p:sp>
      <p:sp>
        <p:nvSpPr>
          <p:cNvPr id="4" name="Subtitle"/>
          <p:cNvSpPr txBox="1"/>
          <p:nvPr/>
        </p:nvSpPr>
        <p:spPr>
          <a:xfrm>
            <a:off x="731520" y="4114800"/>
            <a:ext cx="9509760" cy="822960"/>
          </a:xfrm>
          <a:prstGeom prst="rect">
            <a:avLst/>
          </a:prstGeom>
          <a:noFill/>
          <a:ln/>
        </p:spPr>
        <p:txBody>
          <a:bodyPr wrap="square" lIns="0" tIns="0" rIns="0" bIns="0" rtlCol="0" anchor="t"/>
          <a:lstStyle/>
          <a:p>
            <a:pPr indent="0" marL="0">
              <a:buNone/>
            </a:pPr>
            <a:r>
              <a:rPr lang="en-US" sz="2000" dirty="0">
                <a:solidFill>
                  <a:schemeClr val="tx2"/>
                </a:solidFill>
              </a:rPr>
              <a:t>Cited diagnostic answers, validated requests and test cases for ECU testing, running fully on a local machine</a:t>
            </a:r>
            <a:endParaRPr lang="en-US" sz="2000" dirty="0"/>
          </a:p>
        </p:txBody>
      </p:sp>
      <p:sp>
        <p:nvSpPr>
          <p:cNvPr id="5" name="Meta"/>
          <p:cNvSpPr txBox="1"/>
          <p:nvPr/>
        </p:nvSpPr>
        <p:spPr>
          <a:xfrm>
            <a:off x="731520" y="5943600"/>
            <a:ext cx="7315200" cy="320040"/>
          </a:xfrm>
          <a:prstGeom prst="rect">
            <a:avLst/>
          </a:prstGeom>
          <a:noFill/>
          <a:ln/>
        </p:spPr>
        <p:txBody>
          <a:bodyPr wrap="square" lIns="0" tIns="0" rIns="0" bIns="0" rtlCol="0" anchor="ctr"/>
          <a:lstStyle/>
          <a:p>
            <a:pPr indent="0" marL="0">
              <a:buNone/>
            </a:pPr>
            <a:r>
              <a:rPr lang="en-US" sz="1400" dirty="0">
                <a:solidFill>
                  <a:schemeClr val="tx2"/>
                </a:solidFill>
              </a:rPr>
              <a:t>Case Study 5  |  Automotive Engineering AI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Problem statement</a:t>
            </a:r>
            <a:endParaRPr lang="en-US" sz="3600" dirty="0"/>
          </a:p>
        </p:txBody>
      </p:sp>
      <p:sp>
        <p:nvSpPr>
          <p:cNvPr id="3" name="Statement"/>
          <p:cNvSpPr txBox="1"/>
          <p:nvPr/>
        </p:nvSpPr>
        <p:spPr>
          <a:xfrm>
            <a:off x="731520" y="1737360"/>
            <a:ext cx="4754880" cy="2560320"/>
          </a:xfrm>
          <a:prstGeom prst="rect">
            <a:avLst/>
          </a:prstGeom>
          <a:noFill/>
          <a:ln/>
        </p:spPr>
        <p:txBody>
          <a:bodyPr wrap="square" lIns="0" tIns="0" rIns="0" bIns="0" rtlCol="0" anchor="t"/>
          <a:lstStyle/>
          <a:p>
            <a:pPr indent="0" marL="0">
              <a:buNone/>
            </a:pPr>
            <a:r>
              <a:rPr lang="en-US" sz="3000" b="1" dirty="0">
                <a:solidFill>
                  <a:schemeClr val="accent1"/>
                </a:solidFill>
              </a:rPr>
              <a:t>Hand-writing UDS diagnostic tests is slow, inconsistent and thin on negative cases.</a:t>
            </a:r>
            <a:endParaRPr lang="en-US" sz="3000" dirty="0"/>
          </a:p>
        </p:txBody>
      </p:sp>
      <p:sp>
        <p:nvSpPr>
          <p:cNvPr id="4" name="Step chip 1"/>
          <p:cNvSpPr/>
          <p:nvPr/>
        </p:nvSpPr>
        <p:spPr>
          <a:xfrm>
            <a:off x="6309360" y="1755648"/>
            <a:ext cx="457200" cy="457200"/>
          </a:xfrm>
          <a:prstGeom prst="ellipse">
            <a:avLst/>
          </a:prstGeom>
          <a:solidFill>
            <a:schemeClr val="accent1"/>
          </a:solidFill>
          <a:ln w="12700">
            <a:solidFill>
              <a:schemeClr val="accent1"/>
            </a:solidFill>
            <a:prstDash val="solid"/>
          </a:ln>
        </p:spPr>
      </p:sp>
      <p:sp>
        <p:nvSpPr>
          <p:cNvPr id="5" name="Step number 1"/>
          <p:cNvSpPr txBox="1"/>
          <p:nvPr/>
        </p:nvSpPr>
        <p:spPr>
          <a:xfrm>
            <a:off x="6309360" y="17556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ep head 1"/>
          <p:cNvSpPr txBox="1"/>
          <p:nvPr/>
        </p:nvSpPr>
        <p:spPr>
          <a:xfrm>
            <a:off x="6995160" y="1737360"/>
            <a:ext cx="4480560" cy="365760"/>
          </a:xfrm>
          <a:prstGeom prst="rect">
            <a:avLst/>
          </a:prstGeom>
          <a:noFill/>
          <a:ln/>
        </p:spPr>
        <p:txBody>
          <a:bodyPr wrap="square" lIns="0" tIns="0" rIns="0" bIns="0" rtlCol="0" anchor="ctr"/>
          <a:lstStyle/>
          <a:p>
            <a:pPr indent="0" marL="0">
              <a:buNone/>
            </a:pPr>
            <a:r>
              <a:rPr lang="en-US" sz="2000" b="1" dirty="0">
                <a:solidFill>
                  <a:schemeClr val="tx1"/>
                </a:solidFill>
              </a:rPr>
              <a:t>Interpret</a:t>
            </a:r>
            <a:endParaRPr lang="en-US" sz="2000" dirty="0"/>
          </a:p>
        </p:txBody>
      </p:sp>
      <p:sp>
        <p:nvSpPr>
          <p:cNvPr id="7" name="Step text 1"/>
          <p:cNvSpPr txBox="1"/>
          <p:nvPr/>
        </p:nvSpPr>
        <p:spPr>
          <a:xfrm>
            <a:off x="6995160" y="2121408"/>
            <a:ext cx="4480560" cy="731520"/>
          </a:xfrm>
          <a:prstGeom prst="rect">
            <a:avLst/>
          </a:prstGeom>
          <a:noFill/>
          <a:ln/>
        </p:spPr>
        <p:txBody>
          <a:bodyPr wrap="square" lIns="0" tIns="0" rIns="0" bIns="0" rtlCol="0" anchor="t"/>
          <a:lstStyle/>
          <a:p>
            <a:pPr indent="0" marL="0">
              <a:buNone/>
            </a:pPr>
            <a:r>
              <a:rPr lang="en-US" sz="1600" dirty="0">
                <a:solidFill>
                  <a:schemeClr val="tx2"/>
                </a:solidFill>
              </a:rPr>
              <a:t>ISO 14229 together with OEM-specific and ECU-specific behaviour.</a:t>
            </a:r>
            <a:endParaRPr lang="en-US" sz="1600" dirty="0"/>
          </a:p>
        </p:txBody>
      </p:sp>
      <p:sp>
        <p:nvSpPr>
          <p:cNvPr id="8" name="Step chip 2"/>
          <p:cNvSpPr/>
          <p:nvPr/>
        </p:nvSpPr>
        <p:spPr>
          <a:xfrm>
            <a:off x="6309360" y="3081528"/>
            <a:ext cx="457200" cy="457200"/>
          </a:xfrm>
          <a:prstGeom prst="ellipse">
            <a:avLst/>
          </a:prstGeom>
          <a:solidFill>
            <a:schemeClr val="accent1"/>
          </a:solidFill>
          <a:ln w="12700">
            <a:solidFill>
              <a:schemeClr val="accent1"/>
            </a:solidFill>
            <a:prstDash val="solid"/>
          </a:ln>
        </p:spPr>
      </p:sp>
      <p:sp>
        <p:nvSpPr>
          <p:cNvPr id="9" name="Step number 2"/>
          <p:cNvSpPr txBox="1"/>
          <p:nvPr/>
        </p:nvSpPr>
        <p:spPr>
          <a:xfrm>
            <a:off x="6309360" y="30815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Step head 2"/>
          <p:cNvSpPr txBox="1"/>
          <p:nvPr/>
        </p:nvSpPr>
        <p:spPr>
          <a:xfrm>
            <a:off x="6995160" y="3063240"/>
            <a:ext cx="4480560" cy="365760"/>
          </a:xfrm>
          <a:prstGeom prst="rect">
            <a:avLst/>
          </a:prstGeom>
          <a:noFill/>
          <a:ln/>
        </p:spPr>
        <p:txBody>
          <a:bodyPr wrap="square" lIns="0" tIns="0" rIns="0" bIns="0" rtlCol="0" anchor="ctr"/>
          <a:lstStyle/>
          <a:p>
            <a:pPr indent="0" marL="0">
              <a:buNone/>
            </a:pPr>
            <a:r>
              <a:rPr lang="en-US" sz="2000" b="1" dirty="0">
                <a:solidFill>
                  <a:schemeClr val="tx1"/>
                </a:solidFill>
              </a:rPr>
              <a:t>Construct</a:t>
            </a:r>
            <a:endParaRPr lang="en-US" sz="2000" dirty="0"/>
          </a:p>
        </p:txBody>
      </p:sp>
      <p:sp>
        <p:nvSpPr>
          <p:cNvPr id="11" name="Step text 2"/>
          <p:cNvSpPr txBox="1"/>
          <p:nvPr/>
        </p:nvSpPr>
        <p:spPr>
          <a:xfrm>
            <a:off x="6995160" y="3447288"/>
            <a:ext cx="4480560" cy="731520"/>
          </a:xfrm>
          <a:prstGeom prst="rect">
            <a:avLst/>
          </a:prstGeom>
          <a:noFill/>
          <a:ln/>
        </p:spPr>
        <p:txBody>
          <a:bodyPr wrap="square" lIns="0" tIns="0" rIns="0" bIns="0" rtlCol="0" anchor="t"/>
          <a:lstStyle/>
          <a:p>
            <a:pPr indent="0" marL="0">
              <a:buNone/>
            </a:pPr>
            <a:r>
              <a:rPr lang="en-US" sz="1600" dirty="0">
                <a:solidFill>
                  <a:schemeClr val="tx2"/>
                </a:solidFill>
              </a:rPr>
              <a:t>Request bytes by hand, and work out the session and security prerequisites.</a:t>
            </a:r>
            <a:endParaRPr lang="en-US" sz="1600" dirty="0"/>
          </a:p>
        </p:txBody>
      </p:sp>
      <p:sp>
        <p:nvSpPr>
          <p:cNvPr id="12" name="Step chip 3"/>
          <p:cNvSpPr/>
          <p:nvPr/>
        </p:nvSpPr>
        <p:spPr>
          <a:xfrm>
            <a:off x="6309360" y="4407408"/>
            <a:ext cx="457200" cy="457200"/>
          </a:xfrm>
          <a:prstGeom prst="ellipse">
            <a:avLst/>
          </a:prstGeom>
          <a:solidFill>
            <a:schemeClr val="accent1"/>
          </a:solidFill>
          <a:ln w="12700">
            <a:solidFill>
              <a:schemeClr val="accent1"/>
            </a:solidFill>
            <a:prstDash val="solid"/>
          </a:ln>
        </p:spPr>
      </p:sp>
      <p:sp>
        <p:nvSpPr>
          <p:cNvPr id="13" name="Step number 3"/>
          <p:cNvSpPr txBox="1"/>
          <p:nvPr/>
        </p:nvSpPr>
        <p:spPr>
          <a:xfrm>
            <a:off x="6309360" y="44074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Step head 3"/>
          <p:cNvSpPr txBox="1"/>
          <p:nvPr/>
        </p:nvSpPr>
        <p:spPr>
          <a:xfrm>
            <a:off x="6995160" y="4389120"/>
            <a:ext cx="4480560" cy="365760"/>
          </a:xfrm>
          <a:prstGeom prst="rect">
            <a:avLst/>
          </a:prstGeom>
          <a:noFill/>
          <a:ln/>
        </p:spPr>
        <p:txBody>
          <a:bodyPr wrap="square" lIns="0" tIns="0" rIns="0" bIns="0" rtlCol="0" anchor="ctr"/>
          <a:lstStyle/>
          <a:p>
            <a:pPr indent="0" marL="0">
              <a:buNone/>
            </a:pPr>
            <a:r>
              <a:rPr lang="en-US" sz="2000" b="1" dirty="0">
                <a:solidFill>
                  <a:schemeClr val="tx1"/>
                </a:solidFill>
              </a:rPr>
              <a:t>Predict</a:t>
            </a:r>
            <a:endParaRPr lang="en-US" sz="2000" dirty="0"/>
          </a:p>
        </p:txBody>
      </p:sp>
      <p:sp>
        <p:nvSpPr>
          <p:cNvPr id="15" name="Step text 3"/>
          <p:cNvSpPr txBox="1"/>
          <p:nvPr/>
        </p:nvSpPr>
        <p:spPr>
          <a:xfrm>
            <a:off x="6995160" y="4773168"/>
            <a:ext cx="4480560" cy="731520"/>
          </a:xfrm>
          <a:prstGeom prst="rect">
            <a:avLst/>
          </a:prstGeom>
          <a:noFill/>
          <a:ln/>
        </p:spPr>
        <p:txBody>
          <a:bodyPr wrap="square" lIns="0" tIns="0" rIns="0" bIns="0" rtlCol="0" anchor="t"/>
          <a:lstStyle/>
          <a:p>
            <a:pPr indent="0" marL="0">
              <a:buNone/>
            </a:pPr>
            <a:r>
              <a:rPr lang="en-US" sz="1600" dirty="0">
                <a:solidFill>
                  <a:schemeClr val="tx2"/>
                </a:solidFill>
              </a:rPr>
              <a:t>Positive and negative responses, then translate the intent into automation scripts.</a:t>
            </a:r>
            <a:endParaRPr lang="en-US" sz="1600" dirty="0"/>
          </a:p>
        </p:txBody>
      </p:sp>
      <p:sp>
        <p:nvSpPr>
          <p:cNvPr id="16" name="Footnote"/>
          <p:cNvSpPr txBox="1"/>
          <p:nvPr/>
        </p:nvSpPr>
        <p:spPr>
          <a:xfrm>
            <a:off x="731520" y="6355080"/>
            <a:ext cx="9875520" cy="274320"/>
          </a:xfrm>
          <a:prstGeom prst="rect">
            <a:avLst/>
          </a:prstGeom>
          <a:noFill/>
          <a:ln/>
        </p:spPr>
        <p:txBody>
          <a:bodyPr wrap="square" lIns="0" tIns="0" rIns="0" bIns="0" rtlCol="0" anchor="ctr"/>
          <a:lstStyle/>
          <a:p>
            <a:pPr indent="0" marL="0">
              <a:buNone/>
            </a:pPr>
            <a:r>
              <a:rPr lang="en-US" sz="1000" dirty="0">
                <a:solidFill>
                  <a:schemeClr val="tx2"/>
                </a:solidFill>
              </a:rPr>
              <a:t>Source: Case Study 5, section 1. More services, subfunctions, identifiers and variants mean more inconsistency and error risk.</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Objective</a:t>
            </a:r>
            <a:endParaRPr lang="en-US" sz="3600" dirty="0"/>
          </a:p>
        </p:txBody>
      </p:sp>
      <p:sp>
        <p:nvSpPr>
          <p:cNvPr id="3" name="Card obj1"/>
          <p:cNvSpPr/>
          <p:nvPr/>
        </p:nvSpPr>
        <p:spPr>
          <a:xfrm>
            <a:off x="731520" y="1600200"/>
            <a:ext cx="5257800" cy="2057400"/>
          </a:xfrm>
          <a:prstGeom prst="roundRect">
            <a:avLst>
              <a:gd name="adj" fmla="val 5333"/>
            </a:avLst>
          </a:prstGeom>
          <a:solidFill>
            <a:schemeClr val="bg2"/>
          </a:solidFill>
          <a:ln w="12700">
            <a:solidFill>
              <a:schemeClr val="bg2"/>
            </a:solidFill>
            <a:prstDash val="solid"/>
          </a:ln>
        </p:spPr>
      </p:sp>
      <p:sp>
        <p:nvSpPr>
          <p:cNvPr id="4" name="Icon circle obj1"/>
          <p:cNvSpPr/>
          <p:nvPr/>
        </p:nvSpPr>
        <p:spPr>
          <a:xfrm>
            <a:off x="1005840" y="1874520"/>
            <a:ext cx="566928" cy="566928"/>
          </a:xfrm>
          <a:prstGeom prst="ellipse">
            <a:avLst/>
          </a:prstGeom>
          <a:solidFill>
            <a:schemeClr val="accent1"/>
          </a:solidFill>
          <a:ln w="12700">
            <a:solidFill>
              <a:schemeClr val="accent1"/>
            </a:solidFill>
            <a:prstDash val="solid"/>
          </a:ln>
        </p:spPr>
      </p:sp>
      <p:pic>
        <p:nvPicPr>
          <p:cNvPr id="5" name="Icon obj1" descr="Less interpretation effort">    </p:cNvPr>
          <p:cNvPicPr>
            <a:picLocks noChangeAspect="1"/>
          </p:cNvPicPr>
          <p:nvPr/>
        </p:nvPicPr>
        <p:blipFill>
          <a:blip r:embed="rId1"/>
          <a:stretch>
            <a:fillRect/>
          </a:stretch>
        </p:blipFill>
        <p:spPr>
          <a:xfrm>
            <a:off x="1152144" y="2020824"/>
            <a:ext cx="274320" cy="274320"/>
          </a:xfrm>
          <a:prstGeom prst="rect">
            <a:avLst/>
          </a:prstGeom>
        </p:spPr>
      </p:pic>
      <p:sp>
        <p:nvSpPr>
          <p:cNvPr id="6" name="Card head obj1"/>
          <p:cNvSpPr txBox="1"/>
          <p:nvPr/>
        </p:nvSpPr>
        <p:spPr>
          <a:xfrm>
            <a:off x="1005840" y="2560320"/>
            <a:ext cx="4709160" cy="411480"/>
          </a:xfrm>
          <a:prstGeom prst="rect">
            <a:avLst/>
          </a:prstGeom>
          <a:noFill/>
          <a:ln/>
        </p:spPr>
        <p:txBody>
          <a:bodyPr wrap="square" lIns="0" tIns="0" rIns="0" bIns="0" rtlCol="0" anchor="t"/>
          <a:lstStyle/>
          <a:p>
            <a:pPr indent="0" marL="0">
              <a:buNone/>
            </a:pPr>
            <a:r>
              <a:rPr lang="en-US" sz="2000" b="1" dirty="0">
                <a:solidFill>
                  <a:schemeClr val="tx1"/>
                </a:solidFill>
              </a:rPr>
              <a:t>Less interpretation effort</a:t>
            </a:r>
            <a:endParaRPr lang="en-US" sz="2000" dirty="0"/>
          </a:p>
        </p:txBody>
      </p:sp>
      <p:sp>
        <p:nvSpPr>
          <p:cNvPr id="7" name="Card body obj1"/>
          <p:cNvSpPr txBox="1"/>
          <p:nvPr/>
        </p:nvSpPr>
        <p:spPr>
          <a:xfrm>
            <a:off x="1005840" y="3017520"/>
            <a:ext cx="4709160" cy="502920"/>
          </a:xfrm>
          <a:prstGeom prst="rect">
            <a:avLst/>
          </a:prstGeom>
          <a:noFill/>
          <a:ln/>
        </p:spPr>
        <p:txBody>
          <a:bodyPr wrap="square" lIns="0" tIns="0" rIns="0" bIns="0" rtlCol="0" anchor="t"/>
          <a:lstStyle/>
          <a:p>
            <a:pPr indent="0" marL="0">
              <a:buNone/>
            </a:pPr>
            <a:r>
              <a:rPr lang="en-US" sz="1500" dirty="0">
                <a:solidFill>
                  <a:schemeClr val="tx2"/>
                </a:solidFill>
              </a:rPr>
              <a:t>Spend less time reading the diagnostic specification by hand.</a:t>
            </a:r>
            <a:endParaRPr lang="en-US" sz="1500" dirty="0"/>
          </a:p>
        </p:txBody>
      </p:sp>
      <p:sp>
        <p:nvSpPr>
          <p:cNvPr id="8" name="Card obj2"/>
          <p:cNvSpPr/>
          <p:nvPr/>
        </p:nvSpPr>
        <p:spPr>
          <a:xfrm>
            <a:off x="6172200" y="1600200"/>
            <a:ext cx="5257800" cy="2057400"/>
          </a:xfrm>
          <a:prstGeom prst="roundRect">
            <a:avLst>
              <a:gd name="adj" fmla="val 5333"/>
            </a:avLst>
          </a:prstGeom>
          <a:solidFill>
            <a:schemeClr val="bg2"/>
          </a:solidFill>
          <a:ln w="12700">
            <a:solidFill>
              <a:schemeClr val="bg2"/>
            </a:solidFill>
            <a:prstDash val="solid"/>
          </a:ln>
        </p:spPr>
      </p:sp>
      <p:sp>
        <p:nvSpPr>
          <p:cNvPr id="9" name="Icon circle obj2"/>
          <p:cNvSpPr/>
          <p:nvPr/>
        </p:nvSpPr>
        <p:spPr>
          <a:xfrm>
            <a:off x="6446520" y="1874520"/>
            <a:ext cx="566928" cy="566928"/>
          </a:xfrm>
          <a:prstGeom prst="ellipse">
            <a:avLst/>
          </a:prstGeom>
          <a:solidFill>
            <a:schemeClr val="accent1"/>
          </a:solidFill>
          <a:ln w="12700">
            <a:solidFill>
              <a:schemeClr val="accent1"/>
            </a:solidFill>
            <a:prstDash val="solid"/>
          </a:ln>
        </p:spPr>
      </p:sp>
      <p:pic>
        <p:nvPicPr>
          <p:cNvPr id="10" name="Icon obj2" descr="Consistent test scenarios">    </p:cNvPr>
          <p:cNvPicPr>
            <a:picLocks noChangeAspect="1"/>
          </p:cNvPicPr>
          <p:nvPr/>
        </p:nvPicPr>
        <p:blipFill>
          <a:blip r:embed="rId2"/>
          <a:stretch>
            <a:fillRect/>
          </a:stretch>
        </p:blipFill>
        <p:spPr>
          <a:xfrm>
            <a:off x="6592824" y="2020824"/>
            <a:ext cx="274320" cy="274320"/>
          </a:xfrm>
          <a:prstGeom prst="rect">
            <a:avLst/>
          </a:prstGeom>
        </p:spPr>
      </p:pic>
      <p:sp>
        <p:nvSpPr>
          <p:cNvPr id="11" name="Card head obj2"/>
          <p:cNvSpPr txBox="1"/>
          <p:nvPr/>
        </p:nvSpPr>
        <p:spPr>
          <a:xfrm>
            <a:off x="6446520" y="2560320"/>
            <a:ext cx="4709160" cy="411480"/>
          </a:xfrm>
          <a:prstGeom prst="rect">
            <a:avLst/>
          </a:prstGeom>
          <a:noFill/>
          <a:ln/>
        </p:spPr>
        <p:txBody>
          <a:bodyPr wrap="square" lIns="0" tIns="0" rIns="0" bIns="0" rtlCol="0" anchor="t"/>
          <a:lstStyle/>
          <a:p>
            <a:pPr indent="0" marL="0">
              <a:buNone/>
            </a:pPr>
            <a:r>
              <a:rPr lang="en-US" sz="2000" b="1" dirty="0">
                <a:solidFill>
                  <a:schemeClr val="tx1"/>
                </a:solidFill>
              </a:rPr>
              <a:t>Consistent test scenarios</a:t>
            </a:r>
            <a:endParaRPr lang="en-US" sz="2000" dirty="0"/>
          </a:p>
        </p:txBody>
      </p:sp>
      <p:sp>
        <p:nvSpPr>
          <p:cNvPr id="12" name="Card body obj2"/>
          <p:cNvSpPr txBox="1"/>
          <p:nvPr/>
        </p:nvSpPr>
        <p:spPr>
          <a:xfrm>
            <a:off x="6446520" y="3017520"/>
            <a:ext cx="4709160" cy="502920"/>
          </a:xfrm>
          <a:prstGeom prst="rect">
            <a:avLst/>
          </a:prstGeom>
          <a:noFill/>
          <a:ln/>
        </p:spPr>
        <p:txBody>
          <a:bodyPr wrap="square" lIns="0" tIns="0" rIns="0" bIns="0" rtlCol="0" anchor="t"/>
          <a:lstStyle/>
          <a:p>
            <a:pPr indent="0" marL="0">
              <a:buNone/>
            </a:pPr>
            <a:r>
              <a:rPr lang="en-US" sz="1500" dirty="0">
                <a:solidFill>
                  <a:schemeClr val="tx2"/>
                </a:solidFill>
              </a:rPr>
              <a:t>Positive and negative cases generated the same way every time.</a:t>
            </a:r>
            <a:endParaRPr lang="en-US" sz="1500" dirty="0"/>
          </a:p>
        </p:txBody>
      </p:sp>
      <p:sp>
        <p:nvSpPr>
          <p:cNvPr id="13" name="Card obj3"/>
          <p:cNvSpPr/>
          <p:nvPr/>
        </p:nvSpPr>
        <p:spPr>
          <a:xfrm>
            <a:off x="731520" y="3840480"/>
            <a:ext cx="5257800" cy="2057400"/>
          </a:xfrm>
          <a:prstGeom prst="roundRect">
            <a:avLst>
              <a:gd name="adj" fmla="val 5333"/>
            </a:avLst>
          </a:prstGeom>
          <a:solidFill>
            <a:schemeClr val="bg2"/>
          </a:solidFill>
          <a:ln w="12700">
            <a:solidFill>
              <a:schemeClr val="bg2"/>
            </a:solidFill>
            <a:prstDash val="solid"/>
          </a:ln>
        </p:spPr>
      </p:sp>
      <p:sp>
        <p:nvSpPr>
          <p:cNvPr id="14" name="Icon circle obj3"/>
          <p:cNvSpPr/>
          <p:nvPr/>
        </p:nvSpPr>
        <p:spPr>
          <a:xfrm>
            <a:off x="1005840" y="4114800"/>
            <a:ext cx="566928" cy="566928"/>
          </a:xfrm>
          <a:prstGeom prst="ellipse">
            <a:avLst/>
          </a:prstGeom>
          <a:solidFill>
            <a:schemeClr val="accent1"/>
          </a:solidFill>
          <a:ln w="12700">
            <a:solidFill>
              <a:schemeClr val="accent1"/>
            </a:solidFill>
            <a:prstDash val="solid"/>
          </a:ln>
        </p:spPr>
      </p:sp>
      <p:pic>
        <p:nvPicPr>
          <p:cNvPr id="15" name="Icon obj3" descr="Validated structures">    </p:cNvPr>
          <p:cNvPicPr>
            <a:picLocks noChangeAspect="1"/>
          </p:cNvPicPr>
          <p:nvPr/>
        </p:nvPicPr>
        <p:blipFill>
          <a:blip r:embed="rId3"/>
          <a:stretch>
            <a:fillRect/>
          </a:stretch>
        </p:blipFill>
        <p:spPr>
          <a:xfrm>
            <a:off x="1152144" y="4261104"/>
            <a:ext cx="274320" cy="274320"/>
          </a:xfrm>
          <a:prstGeom prst="rect">
            <a:avLst/>
          </a:prstGeom>
        </p:spPr>
      </p:pic>
      <p:sp>
        <p:nvSpPr>
          <p:cNvPr id="16" name="Card head obj3"/>
          <p:cNvSpPr txBox="1"/>
          <p:nvPr/>
        </p:nvSpPr>
        <p:spPr>
          <a:xfrm>
            <a:off x="1005840" y="4800600"/>
            <a:ext cx="4709160" cy="411480"/>
          </a:xfrm>
          <a:prstGeom prst="rect">
            <a:avLst/>
          </a:prstGeom>
          <a:noFill/>
          <a:ln/>
        </p:spPr>
        <p:txBody>
          <a:bodyPr wrap="square" lIns="0" tIns="0" rIns="0" bIns="0" rtlCol="0" anchor="t"/>
          <a:lstStyle/>
          <a:p>
            <a:pPr indent="0" marL="0">
              <a:buNone/>
            </a:pPr>
            <a:r>
              <a:rPr lang="en-US" sz="2000" b="1" dirty="0">
                <a:solidFill>
                  <a:schemeClr val="tx1"/>
                </a:solidFill>
              </a:rPr>
              <a:t>Validated structures</a:t>
            </a:r>
            <a:endParaRPr lang="en-US" sz="2000" dirty="0"/>
          </a:p>
        </p:txBody>
      </p:sp>
      <p:sp>
        <p:nvSpPr>
          <p:cNvPr id="17" name="Card body obj3"/>
          <p:cNvSpPr txBox="1"/>
          <p:nvPr/>
        </p:nvSpPr>
        <p:spPr>
          <a:xfrm>
            <a:off x="1005840" y="5257800"/>
            <a:ext cx="4709160" cy="502920"/>
          </a:xfrm>
          <a:prstGeom prst="rect">
            <a:avLst/>
          </a:prstGeom>
          <a:noFill/>
          <a:ln/>
        </p:spPr>
        <p:txBody>
          <a:bodyPr wrap="square" lIns="0" tIns="0" rIns="0" bIns="0" rtlCol="0" anchor="t"/>
          <a:lstStyle/>
          <a:p>
            <a:pPr indent="0" marL="0">
              <a:buNone/>
            </a:pPr>
            <a:r>
              <a:rPr lang="en-US" sz="1500" dirty="0">
                <a:solidFill>
                  <a:schemeClr val="tx2"/>
                </a:solidFill>
              </a:rPr>
              <a:t>Check requests and expected responses against the rules, not by eye.</a:t>
            </a:r>
            <a:endParaRPr lang="en-US" sz="1500" dirty="0"/>
          </a:p>
        </p:txBody>
      </p:sp>
      <p:sp>
        <p:nvSpPr>
          <p:cNvPr id="18" name="Card obj4"/>
          <p:cNvSpPr/>
          <p:nvPr/>
        </p:nvSpPr>
        <p:spPr>
          <a:xfrm>
            <a:off x="6172200" y="3840480"/>
            <a:ext cx="5257800" cy="2057400"/>
          </a:xfrm>
          <a:prstGeom prst="roundRect">
            <a:avLst>
              <a:gd name="adj" fmla="val 5333"/>
            </a:avLst>
          </a:prstGeom>
          <a:solidFill>
            <a:schemeClr val="bg2"/>
          </a:solidFill>
          <a:ln w="12700">
            <a:solidFill>
              <a:schemeClr val="bg2"/>
            </a:solidFill>
            <a:prstDash val="solid"/>
          </a:ln>
        </p:spPr>
      </p:sp>
      <p:sp>
        <p:nvSpPr>
          <p:cNvPr id="19" name="Icon circle obj4"/>
          <p:cNvSpPr/>
          <p:nvPr/>
        </p:nvSpPr>
        <p:spPr>
          <a:xfrm>
            <a:off x="6446520" y="4114800"/>
            <a:ext cx="566928" cy="566928"/>
          </a:xfrm>
          <a:prstGeom prst="ellipse">
            <a:avLst/>
          </a:prstGeom>
          <a:solidFill>
            <a:schemeClr val="accent1"/>
          </a:solidFill>
          <a:ln w="12700">
            <a:solidFill>
              <a:schemeClr val="accent1"/>
            </a:solidFill>
            <a:prstDash val="solid"/>
          </a:ln>
        </p:spPr>
      </p:sp>
      <p:pic>
        <p:nvPicPr>
          <p:cNvPr id="20" name="Icon obj4" descr="Requirements to tests, faster">    </p:cNvPr>
          <p:cNvPicPr>
            <a:picLocks noChangeAspect="1"/>
          </p:cNvPicPr>
          <p:nvPr/>
        </p:nvPicPr>
        <p:blipFill>
          <a:blip r:embed="rId4"/>
          <a:stretch>
            <a:fillRect/>
          </a:stretch>
        </p:blipFill>
        <p:spPr>
          <a:xfrm>
            <a:off x="6592824" y="4261104"/>
            <a:ext cx="274320" cy="274320"/>
          </a:xfrm>
          <a:prstGeom prst="rect">
            <a:avLst/>
          </a:prstGeom>
        </p:spPr>
      </p:pic>
      <p:sp>
        <p:nvSpPr>
          <p:cNvPr id="21" name="Card head obj4"/>
          <p:cNvSpPr txBox="1"/>
          <p:nvPr/>
        </p:nvSpPr>
        <p:spPr>
          <a:xfrm>
            <a:off x="6446520" y="4800600"/>
            <a:ext cx="4709160" cy="411480"/>
          </a:xfrm>
          <a:prstGeom prst="rect">
            <a:avLst/>
          </a:prstGeom>
          <a:noFill/>
          <a:ln/>
        </p:spPr>
        <p:txBody>
          <a:bodyPr wrap="square" lIns="0" tIns="0" rIns="0" bIns="0" rtlCol="0" anchor="t"/>
          <a:lstStyle/>
          <a:p>
            <a:pPr indent="0" marL="0">
              <a:buNone/>
            </a:pPr>
            <a:r>
              <a:rPr lang="en-US" sz="2000" b="1" dirty="0">
                <a:solidFill>
                  <a:schemeClr val="tx1"/>
                </a:solidFill>
              </a:rPr>
              <a:t>Requirements to tests, faster</a:t>
            </a:r>
            <a:endParaRPr lang="en-US" sz="2000" dirty="0"/>
          </a:p>
        </p:txBody>
      </p:sp>
      <p:sp>
        <p:nvSpPr>
          <p:cNvPr id="22" name="Card body obj4"/>
          <p:cNvSpPr txBox="1"/>
          <p:nvPr/>
        </p:nvSpPr>
        <p:spPr>
          <a:xfrm>
            <a:off x="6446520" y="5257800"/>
            <a:ext cx="4709160" cy="502920"/>
          </a:xfrm>
          <a:prstGeom prst="rect">
            <a:avLst/>
          </a:prstGeom>
          <a:noFill/>
          <a:ln/>
        </p:spPr>
        <p:txBody>
          <a:bodyPr wrap="square" lIns="0" tIns="0" rIns="0" bIns="0" rtlCol="0" anchor="t"/>
          <a:lstStyle/>
          <a:p>
            <a:pPr indent="0" marL="0">
              <a:buNone/>
            </a:pPr>
            <a:r>
              <a:rPr lang="en-US" sz="1500" dirty="0">
                <a:solidFill>
                  <a:schemeClr val="tx2"/>
                </a:solidFill>
              </a:rPr>
              <a:t>Turn a plain-English requirement into an executable test template.</a:t>
            </a:r>
            <a:endParaRPr lang="en-US" sz="1500" dirty="0"/>
          </a:p>
        </p:txBody>
      </p:sp>
      <p:sp>
        <p:nvSpPr>
          <p:cNvPr id="23" name="Footnote"/>
          <p:cNvSpPr txBox="1"/>
          <p:nvPr/>
        </p:nvSpPr>
        <p:spPr>
          <a:xfrm>
            <a:off x="731520" y="6355080"/>
            <a:ext cx="9875520" cy="274320"/>
          </a:xfrm>
          <a:prstGeom prst="rect">
            <a:avLst/>
          </a:prstGeom>
          <a:noFill/>
          <a:ln/>
        </p:spPr>
        <p:txBody>
          <a:bodyPr wrap="square" lIns="0" tIns="0" rIns="0" bIns="0" rtlCol="0" anchor="ctr"/>
          <a:lstStyle/>
          <a:p>
            <a:pPr indent="0" marL="0">
              <a:buNone/>
            </a:pPr>
            <a:r>
              <a:rPr lang="en-US" sz="1000" dirty="0">
                <a:solidFill>
                  <a:schemeClr val="tx2"/>
                </a:solidFill>
              </a:rPr>
              <a:t>Source: Case Study 5, section 2 (Project Objective).</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Scope</a:t>
            </a:r>
            <a:endParaRPr lang="en-US" sz="3600" dirty="0"/>
          </a:p>
        </p:txBody>
      </p:sp>
      <p:pic>
        <p:nvPicPr>
          <p:cNvPr id="3" name="Scope table from the case study" descr="In scope and out of scope table from Case Study 5">    </p:cNvPr>
          <p:cNvPicPr>
            <a:picLocks noChangeAspect="1"/>
          </p:cNvPicPr>
          <p:nvPr/>
        </p:nvPicPr>
        <p:blipFill>
          <a:blip r:embed="rId1"/>
          <a:stretch>
            <a:fillRect/>
          </a:stretch>
        </p:blipFill>
        <p:spPr>
          <a:xfrm>
            <a:off x="731520" y="1645920"/>
            <a:ext cx="10698480" cy="2721875"/>
          </a:xfrm>
          <a:prstGeom prst="rect">
            <a:avLst/>
          </a:prstGeom>
        </p:spPr>
      </p:pic>
      <p:sp>
        <p:nvSpPr>
          <p:cNvPr id="4" name="Takeaway"/>
          <p:cNvSpPr txBox="1"/>
          <p:nvPr/>
        </p:nvSpPr>
        <p:spPr>
          <a:xfrm>
            <a:off x="731520" y="4846320"/>
            <a:ext cx="10698480" cy="548640"/>
          </a:xfrm>
          <a:prstGeom prst="rect">
            <a:avLst/>
          </a:prstGeom>
          <a:noFill/>
          <a:ln/>
        </p:spPr>
        <p:txBody>
          <a:bodyPr wrap="square" lIns="0" tIns="0" rIns="0" bIns="0" rtlCol="0" anchor="ctr"/>
          <a:lstStyle/>
          <a:p>
            <a:pPr indent="0" marL="0">
              <a:buNone/>
            </a:pPr>
            <a:r>
              <a:rPr lang="en-US" sz="1800" dirty="0">
                <a:solidFill>
                  <a:schemeClr val="tx1"/>
                </a:solidFill>
              </a:rPr>
              <a:t>Our boundary follows it: a synthetic ECU simulator only, human review before any run, no production vehicle.</a:t>
            </a:r>
            <a:endParaRPr lang="en-US" sz="1800" dirty="0"/>
          </a:p>
        </p:txBody>
      </p:sp>
      <p:sp>
        <p:nvSpPr>
          <p:cNvPr id="5" name="Footnote"/>
          <p:cNvSpPr txBox="1"/>
          <p:nvPr/>
        </p:nvSpPr>
        <p:spPr>
          <a:xfrm>
            <a:off x="731520" y="6355080"/>
            <a:ext cx="9875520" cy="274320"/>
          </a:xfrm>
          <a:prstGeom prst="rect">
            <a:avLst/>
          </a:prstGeom>
          <a:noFill/>
          <a:ln/>
        </p:spPr>
        <p:txBody>
          <a:bodyPr wrap="square" lIns="0" tIns="0" rIns="0" bIns="0" rtlCol="0" anchor="ctr"/>
          <a:lstStyle/>
          <a:p>
            <a:pPr indent="0" marL="0">
              <a:buNone/>
            </a:pPr>
            <a:r>
              <a:rPr lang="en-US" sz="1000" dirty="0">
                <a:solidFill>
                  <a:schemeClr val="tx2"/>
                </a:solidFill>
              </a:rPr>
              <a:t>Source: Case Study 5, section 3 (Scope).</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Methodology</a:t>
            </a:r>
            <a:endParaRPr lang="en-US" sz="3600" dirty="0"/>
          </a:p>
        </p:txBody>
      </p:sp>
      <p:sp>
        <p:nvSpPr>
          <p:cNvPr id="3" name="Card m1"/>
          <p:cNvSpPr/>
          <p:nvPr/>
        </p:nvSpPr>
        <p:spPr>
          <a:xfrm>
            <a:off x="731520" y="1600200"/>
            <a:ext cx="3429000" cy="3246120"/>
          </a:xfrm>
          <a:prstGeom prst="roundRect">
            <a:avLst>
              <a:gd name="adj" fmla="val 3380"/>
            </a:avLst>
          </a:prstGeom>
          <a:solidFill>
            <a:schemeClr val="bg2"/>
          </a:solidFill>
          <a:ln w="12700">
            <a:solidFill>
              <a:schemeClr val="bg2"/>
            </a:solidFill>
            <a:prstDash val="solid"/>
          </a:ln>
        </p:spPr>
      </p:sp>
      <p:sp>
        <p:nvSpPr>
          <p:cNvPr id="4" name="Icon circle m1"/>
          <p:cNvSpPr/>
          <p:nvPr/>
        </p:nvSpPr>
        <p:spPr>
          <a:xfrm>
            <a:off x="1005840" y="1874520"/>
            <a:ext cx="566928" cy="566928"/>
          </a:xfrm>
          <a:prstGeom prst="ellipse">
            <a:avLst/>
          </a:prstGeom>
          <a:solidFill>
            <a:schemeClr val="accent1"/>
          </a:solidFill>
          <a:ln w="12700">
            <a:solidFill>
              <a:schemeClr val="accent1"/>
            </a:solidFill>
            <a:prstDash val="solid"/>
          </a:ln>
        </p:spPr>
      </p:sp>
      <p:pic>
        <p:nvPicPr>
          <p:cNvPr id="5" name="Icon m1" descr="Language model">    </p:cNvPr>
          <p:cNvPicPr>
            <a:picLocks noChangeAspect="1"/>
          </p:cNvPicPr>
          <p:nvPr/>
        </p:nvPicPr>
        <p:blipFill>
          <a:blip r:embed="rId1"/>
          <a:stretch>
            <a:fillRect/>
          </a:stretch>
        </p:blipFill>
        <p:spPr>
          <a:xfrm>
            <a:off x="1152144" y="2020824"/>
            <a:ext cx="274320" cy="274320"/>
          </a:xfrm>
          <a:prstGeom prst="rect">
            <a:avLst/>
          </a:prstGeom>
        </p:spPr>
      </p:pic>
      <p:sp>
        <p:nvSpPr>
          <p:cNvPr id="6" name="Card head m1"/>
          <p:cNvSpPr txBox="1"/>
          <p:nvPr/>
        </p:nvSpPr>
        <p:spPr>
          <a:xfrm>
            <a:off x="1005840" y="2560320"/>
            <a:ext cx="2880360" cy="411480"/>
          </a:xfrm>
          <a:prstGeom prst="rect">
            <a:avLst/>
          </a:prstGeom>
          <a:noFill/>
          <a:ln/>
        </p:spPr>
        <p:txBody>
          <a:bodyPr wrap="square" lIns="0" tIns="0" rIns="0" bIns="0" rtlCol="0" anchor="t"/>
          <a:lstStyle/>
          <a:p>
            <a:pPr indent="0" marL="0">
              <a:buNone/>
            </a:pPr>
            <a:r>
              <a:rPr lang="en-US" sz="2000" b="1" dirty="0">
                <a:solidFill>
                  <a:schemeClr val="tx1"/>
                </a:solidFill>
              </a:rPr>
              <a:t>Language model</a:t>
            </a:r>
            <a:endParaRPr lang="en-US" sz="2000" dirty="0"/>
          </a:p>
        </p:txBody>
      </p:sp>
      <p:sp>
        <p:nvSpPr>
          <p:cNvPr id="7" name="Card body m1"/>
          <p:cNvSpPr txBox="1"/>
          <p:nvPr/>
        </p:nvSpPr>
        <p:spPr>
          <a:xfrm>
            <a:off x="1005840" y="3017520"/>
            <a:ext cx="2880360" cy="1691640"/>
          </a:xfrm>
          <a:prstGeom prst="rect">
            <a:avLst/>
          </a:prstGeom>
          <a:noFill/>
          <a:ln/>
        </p:spPr>
        <p:txBody>
          <a:bodyPr wrap="square" lIns="0" tIns="0" rIns="0" bIns="0" rtlCol="0" anchor="t"/>
          <a:lstStyle/>
          <a:p>
            <a:pPr indent="0" marL="0">
              <a:buNone/>
            </a:pPr>
            <a:r>
              <a:rPr lang="en-US" sz="1500" dirty="0">
                <a:solidFill>
                  <a:schemeClr val="tx2"/>
                </a:solidFill>
              </a:rPr>
              <a:t>Words only.</a:t>
            </a:r>
            <a:endParaRPr lang="en-US" sz="1500" dirty="0"/>
          </a:p>
          <a:p>
            <a:pPr indent="0" marL="0">
              <a:buNone/>
            </a:pPr>
            <a:r>
              <a:rPr lang="en-US" sz="1500" dirty="0">
                <a:solidFill>
                  <a:schemeClr val="tx2"/>
                </a:solidFill>
              </a:rPr>
              <a:t>Parses the requirement.</a:t>
            </a:r>
            <a:endParaRPr lang="en-US" sz="1500" dirty="0"/>
          </a:p>
          <a:p>
            <a:pPr indent="0" marL="0">
              <a:buNone/>
            </a:pPr>
            <a:r>
              <a:rPr lang="en-US" sz="1500" dirty="0">
                <a:solidFill>
                  <a:schemeClr val="tx2"/>
                </a:solidFill>
              </a:rPr>
              <a:t>Picks approved templates.</a:t>
            </a:r>
            <a:endParaRPr lang="en-US" sz="1500" dirty="0"/>
          </a:p>
          <a:p>
            <a:pPr indent="0" marL="0">
              <a:buNone/>
            </a:pPr>
            <a:r>
              <a:rPr lang="en-US" sz="1500" dirty="0">
                <a:solidFill>
                  <a:schemeClr val="tx2"/>
                </a:solidFill>
              </a:rPr>
              <a:t>Writes the explanation.</a:t>
            </a:r>
            <a:endParaRPr lang="en-US" sz="1500" dirty="0"/>
          </a:p>
        </p:txBody>
      </p:sp>
      <p:sp>
        <p:nvSpPr>
          <p:cNvPr id="8" name="Card m2"/>
          <p:cNvSpPr/>
          <p:nvPr/>
        </p:nvSpPr>
        <p:spPr>
          <a:xfrm>
            <a:off x="4343400" y="1600200"/>
            <a:ext cx="3429000" cy="3246120"/>
          </a:xfrm>
          <a:prstGeom prst="roundRect">
            <a:avLst>
              <a:gd name="adj" fmla="val 3380"/>
            </a:avLst>
          </a:prstGeom>
          <a:solidFill>
            <a:schemeClr val="bg2"/>
          </a:solidFill>
          <a:ln w="12700">
            <a:solidFill>
              <a:schemeClr val="bg2"/>
            </a:solidFill>
            <a:prstDash val="solid"/>
          </a:ln>
        </p:spPr>
      </p:sp>
      <p:sp>
        <p:nvSpPr>
          <p:cNvPr id="9" name="Icon circle m2"/>
          <p:cNvSpPr/>
          <p:nvPr/>
        </p:nvSpPr>
        <p:spPr>
          <a:xfrm>
            <a:off x="4617720" y="1874520"/>
            <a:ext cx="566928" cy="566928"/>
          </a:xfrm>
          <a:prstGeom prst="ellipse">
            <a:avLst/>
          </a:prstGeom>
          <a:solidFill>
            <a:schemeClr val="accent1"/>
          </a:solidFill>
          <a:ln w="12700">
            <a:solidFill>
              <a:schemeClr val="accent1"/>
            </a:solidFill>
            <a:prstDash val="solid"/>
          </a:ln>
        </p:spPr>
      </p:sp>
      <p:pic>
        <p:nvPicPr>
          <p:cNvPr id="10" name="Icon m2" descr="Rules engine">    </p:cNvPr>
          <p:cNvPicPr>
            <a:picLocks noChangeAspect="1"/>
          </p:cNvPicPr>
          <p:nvPr/>
        </p:nvPicPr>
        <p:blipFill>
          <a:blip r:embed="rId2"/>
          <a:stretch>
            <a:fillRect/>
          </a:stretch>
        </p:blipFill>
        <p:spPr>
          <a:xfrm>
            <a:off x="4764024" y="2020824"/>
            <a:ext cx="274320" cy="274320"/>
          </a:xfrm>
          <a:prstGeom prst="rect">
            <a:avLst/>
          </a:prstGeom>
        </p:spPr>
      </p:pic>
      <p:sp>
        <p:nvSpPr>
          <p:cNvPr id="11" name="Card head m2"/>
          <p:cNvSpPr txBox="1"/>
          <p:nvPr/>
        </p:nvSpPr>
        <p:spPr>
          <a:xfrm>
            <a:off x="4617720" y="2560320"/>
            <a:ext cx="2880360" cy="411480"/>
          </a:xfrm>
          <a:prstGeom prst="rect">
            <a:avLst/>
          </a:prstGeom>
          <a:noFill/>
          <a:ln/>
        </p:spPr>
        <p:txBody>
          <a:bodyPr wrap="square" lIns="0" tIns="0" rIns="0" bIns="0" rtlCol="0" anchor="t"/>
          <a:lstStyle/>
          <a:p>
            <a:pPr indent="0" marL="0">
              <a:buNone/>
            </a:pPr>
            <a:r>
              <a:rPr lang="en-US" sz="2000" b="1" dirty="0">
                <a:solidFill>
                  <a:schemeClr val="tx1"/>
                </a:solidFill>
              </a:rPr>
              <a:t>Rules engine</a:t>
            </a:r>
            <a:endParaRPr lang="en-US" sz="2000" dirty="0"/>
          </a:p>
        </p:txBody>
      </p:sp>
      <p:sp>
        <p:nvSpPr>
          <p:cNvPr id="12" name="Card body m2"/>
          <p:cNvSpPr txBox="1"/>
          <p:nvPr/>
        </p:nvSpPr>
        <p:spPr>
          <a:xfrm>
            <a:off x="4617720" y="3017520"/>
            <a:ext cx="2880360" cy="1691640"/>
          </a:xfrm>
          <a:prstGeom prst="rect">
            <a:avLst/>
          </a:prstGeom>
          <a:noFill/>
          <a:ln/>
        </p:spPr>
        <p:txBody>
          <a:bodyPr wrap="square" lIns="0" tIns="0" rIns="0" bIns="0" rtlCol="0" anchor="t"/>
          <a:lstStyle/>
          <a:p>
            <a:pPr indent="0" marL="0">
              <a:buNone/>
            </a:pPr>
            <a:r>
              <a:rPr lang="en-US" sz="1500" dirty="0">
                <a:solidFill>
                  <a:schemeClr val="tx2"/>
                </a:solidFill>
              </a:rPr>
              <a:t>Every byte.</a:t>
            </a:r>
            <a:endParaRPr lang="en-US" sz="1500" dirty="0"/>
          </a:p>
          <a:p>
            <a:pPr indent="0" marL="0">
              <a:buNone/>
            </a:pPr>
            <a:r>
              <a:rPr lang="en-US" sz="1500" dirty="0">
                <a:solidFill>
                  <a:schemeClr val="tx2"/>
                </a:solidFill>
              </a:rPr>
              <a:t>Builds each request and response.</a:t>
            </a:r>
            <a:endParaRPr lang="en-US" sz="1500" dirty="0"/>
          </a:p>
          <a:p>
            <a:pPr indent="0" marL="0">
              <a:buNone/>
            </a:pPr>
            <a:r>
              <a:rPr lang="en-US" sz="1500" dirty="0">
                <a:solidFill>
                  <a:schemeClr val="tx2"/>
                </a:solidFill>
              </a:rPr>
              <a:t>One cited order of negative responses.</a:t>
            </a:r>
            <a:endParaRPr lang="en-US" sz="1500" dirty="0"/>
          </a:p>
          <a:p>
            <a:pPr indent="0" marL="0">
              <a:buNone/>
            </a:pPr>
            <a:r>
              <a:rPr lang="en-US" sz="1500" dirty="0">
                <a:solidFill>
                  <a:schemeClr val="tx2"/>
                </a:solidFill>
              </a:rPr>
              <a:t>Checked against an independent simulator.</a:t>
            </a:r>
            <a:endParaRPr lang="en-US" sz="1500" dirty="0"/>
          </a:p>
        </p:txBody>
      </p:sp>
      <p:sp>
        <p:nvSpPr>
          <p:cNvPr id="13" name="Card m3"/>
          <p:cNvSpPr/>
          <p:nvPr/>
        </p:nvSpPr>
        <p:spPr>
          <a:xfrm>
            <a:off x="7955280" y="1600200"/>
            <a:ext cx="3429000" cy="3246120"/>
          </a:xfrm>
          <a:prstGeom prst="roundRect">
            <a:avLst>
              <a:gd name="adj" fmla="val 3380"/>
            </a:avLst>
          </a:prstGeom>
          <a:solidFill>
            <a:schemeClr val="bg2"/>
          </a:solidFill>
          <a:ln w="12700">
            <a:solidFill>
              <a:schemeClr val="bg2"/>
            </a:solidFill>
            <a:prstDash val="solid"/>
          </a:ln>
        </p:spPr>
      </p:sp>
      <p:sp>
        <p:nvSpPr>
          <p:cNvPr id="14" name="Icon circle m3"/>
          <p:cNvSpPr/>
          <p:nvPr/>
        </p:nvSpPr>
        <p:spPr>
          <a:xfrm>
            <a:off x="8229600" y="1874520"/>
            <a:ext cx="566928" cy="566928"/>
          </a:xfrm>
          <a:prstGeom prst="ellipse">
            <a:avLst/>
          </a:prstGeom>
          <a:solidFill>
            <a:schemeClr val="accent1"/>
          </a:solidFill>
          <a:ln w="12700">
            <a:solidFill>
              <a:schemeClr val="accent1"/>
            </a:solidFill>
            <a:prstDash val="solid"/>
          </a:ln>
        </p:spPr>
      </p:sp>
      <p:pic>
        <p:nvPicPr>
          <p:cNvPr id="15" name="Icon m3" descr="Engineer">    </p:cNvPr>
          <p:cNvPicPr>
            <a:picLocks noChangeAspect="1"/>
          </p:cNvPicPr>
          <p:nvPr/>
        </p:nvPicPr>
        <p:blipFill>
          <a:blip r:embed="rId3"/>
          <a:stretch>
            <a:fillRect/>
          </a:stretch>
        </p:blipFill>
        <p:spPr>
          <a:xfrm>
            <a:off x="8375904" y="2020824"/>
            <a:ext cx="274320" cy="274320"/>
          </a:xfrm>
          <a:prstGeom prst="rect">
            <a:avLst/>
          </a:prstGeom>
        </p:spPr>
      </p:pic>
      <p:sp>
        <p:nvSpPr>
          <p:cNvPr id="16" name="Card head m3"/>
          <p:cNvSpPr txBox="1"/>
          <p:nvPr/>
        </p:nvSpPr>
        <p:spPr>
          <a:xfrm>
            <a:off x="8229600" y="2560320"/>
            <a:ext cx="2880360" cy="411480"/>
          </a:xfrm>
          <a:prstGeom prst="rect">
            <a:avLst/>
          </a:prstGeom>
          <a:noFill/>
          <a:ln/>
        </p:spPr>
        <p:txBody>
          <a:bodyPr wrap="square" lIns="0" tIns="0" rIns="0" bIns="0" rtlCol="0" anchor="t"/>
          <a:lstStyle/>
          <a:p>
            <a:pPr indent="0" marL="0">
              <a:buNone/>
            </a:pPr>
            <a:r>
              <a:rPr lang="en-US" sz="2000" b="1" dirty="0">
                <a:solidFill>
                  <a:schemeClr val="tx1"/>
                </a:solidFill>
              </a:rPr>
              <a:t>Engineer</a:t>
            </a:r>
            <a:endParaRPr lang="en-US" sz="2000" dirty="0"/>
          </a:p>
        </p:txBody>
      </p:sp>
      <p:sp>
        <p:nvSpPr>
          <p:cNvPr id="17" name="Card body m3"/>
          <p:cNvSpPr txBox="1"/>
          <p:nvPr/>
        </p:nvSpPr>
        <p:spPr>
          <a:xfrm>
            <a:off x="8229600" y="3017520"/>
            <a:ext cx="2880360" cy="1691640"/>
          </a:xfrm>
          <a:prstGeom prst="rect">
            <a:avLst/>
          </a:prstGeom>
          <a:noFill/>
          <a:ln/>
        </p:spPr>
        <p:txBody>
          <a:bodyPr wrap="square" lIns="0" tIns="0" rIns="0" bIns="0" rtlCol="0" anchor="t"/>
          <a:lstStyle/>
          <a:p>
            <a:pPr indent="0" marL="0">
              <a:buNone/>
            </a:pPr>
            <a:r>
              <a:rPr lang="en-US" sz="1500" dirty="0">
                <a:solidFill>
                  <a:schemeClr val="tx2"/>
                </a:solidFill>
              </a:rPr>
              <a:t>Final say.</a:t>
            </a:r>
            <a:endParaRPr lang="en-US" sz="1500" dirty="0"/>
          </a:p>
          <a:p>
            <a:pPr indent="0" marL="0">
              <a:buNone/>
            </a:pPr>
            <a:r>
              <a:rPr lang="en-US" sz="1500" dirty="0">
                <a:solidFill>
                  <a:schemeClr val="tx2"/>
                </a:solidFill>
              </a:rPr>
              <a:t>Review gate before any run.</a:t>
            </a:r>
            <a:endParaRPr lang="en-US" sz="1500" dirty="0"/>
          </a:p>
          <a:p>
            <a:pPr indent="0" marL="0">
              <a:buNone/>
            </a:pPr>
            <a:r>
              <a:rPr lang="en-US" sz="1500" dirty="0">
                <a:solidFill>
                  <a:schemeClr val="tx2"/>
                </a:solidFill>
              </a:rPr>
              <a:t>Approved tests only by default.</a:t>
            </a:r>
            <a:endParaRPr lang="en-US" sz="1500" dirty="0"/>
          </a:p>
          <a:p>
            <a:pPr indent="0" marL="0">
              <a:buNone/>
            </a:pPr>
            <a:r>
              <a:rPr lang="en-US" sz="1500" dirty="0">
                <a:solidFill>
                  <a:schemeClr val="tx2"/>
                </a:solidFill>
              </a:rPr>
              <a:t>Every decision in an audit trail.</a:t>
            </a:r>
            <a:endParaRPr lang="en-US" sz="1500" dirty="0"/>
          </a:p>
        </p:txBody>
      </p:sp>
      <p:sp>
        <p:nvSpPr>
          <p:cNvPr id="18" name="Local icon circle"/>
          <p:cNvSpPr/>
          <p:nvPr/>
        </p:nvSpPr>
        <p:spPr>
          <a:xfrm>
            <a:off x="731520" y="5230368"/>
            <a:ext cx="420624" cy="420624"/>
          </a:xfrm>
          <a:prstGeom prst="ellipse">
            <a:avLst/>
          </a:prstGeom>
          <a:solidFill>
            <a:schemeClr val="accent1"/>
          </a:solidFill>
          <a:ln w="12700">
            <a:solidFill>
              <a:schemeClr val="accent1"/>
            </a:solidFill>
            <a:prstDash val="solid"/>
          </a:ln>
        </p:spPr>
      </p:sp>
      <p:pic>
        <p:nvPicPr>
          <p:cNvPr id="19" name="Local icon" descr="Local">    </p:cNvPr>
          <p:cNvPicPr>
            <a:picLocks noChangeAspect="1"/>
          </p:cNvPicPr>
          <p:nvPr/>
        </p:nvPicPr>
        <p:blipFill>
          <a:blip r:embed="rId4"/>
          <a:stretch>
            <a:fillRect/>
          </a:stretch>
        </p:blipFill>
        <p:spPr>
          <a:xfrm>
            <a:off x="850392" y="5349240"/>
            <a:ext cx="182880" cy="182880"/>
          </a:xfrm>
          <a:prstGeom prst="rect">
            <a:avLst/>
          </a:prstGeom>
        </p:spPr>
      </p:pic>
      <p:sp>
        <p:nvSpPr>
          <p:cNvPr id="20" name="Local line"/>
          <p:cNvSpPr txBox="1"/>
          <p:nvPr/>
        </p:nvSpPr>
        <p:spPr>
          <a:xfrm>
            <a:off x="1371600" y="5166360"/>
            <a:ext cx="10058400" cy="548640"/>
          </a:xfrm>
          <a:prstGeom prst="rect">
            <a:avLst/>
          </a:prstGeom>
          <a:noFill/>
          <a:ln/>
        </p:spPr>
        <p:txBody>
          <a:bodyPr wrap="square" lIns="0" tIns="0" rIns="0" bIns="0" rtlCol="0" anchor="ctr"/>
          <a:lstStyle/>
          <a:p>
            <a:pPr indent="0" marL="0">
              <a:buNone/>
            </a:pPr>
            <a:r>
              <a:rPr lang="en-US" sz="1600" dirty="0">
                <a:solidFill>
                  <a:schemeClr val="tx1"/>
                </a:solidFill>
              </a:rPr>
              <a:t>Runs locally: Ollama (qwen2.5 3B) on the GPU, ChromaDB with BGE embeddings, FastAPI. Answers and tests carry citations.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Pipeline</a:t>
            </a:r>
            <a:endParaRPr lang="en-US" sz="3600" dirty="0"/>
          </a:p>
        </p:txBody>
      </p:sp>
      <p:pic>
        <p:nvPicPr>
          <p:cNvPr id="3" name="Pipeline diagram" descr="Pipeline from requirement through parse, retrieve, plan, instantiate, validate, explain, review, run and export">    </p:cNvPr>
          <p:cNvPicPr>
            <a:picLocks noChangeAspect="1"/>
          </p:cNvPicPr>
          <p:nvPr/>
        </p:nvPicPr>
        <p:blipFill>
          <a:blip r:embed="rId1"/>
          <a:stretch>
            <a:fillRect/>
          </a:stretch>
        </p:blipFill>
        <p:spPr>
          <a:xfrm>
            <a:off x="929488" y="1417320"/>
            <a:ext cx="10332720" cy="4548996"/>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Limitations</a:t>
            </a:r>
            <a:endParaRPr lang="en-US" sz="3600" dirty="0"/>
          </a:p>
        </p:txBody>
      </p:sp>
      <p:sp>
        <p:nvSpPr>
          <p:cNvPr id="3" name="Card lim1"/>
          <p:cNvSpPr/>
          <p:nvPr/>
        </p:nvSpPr>
        <p:spPr>
          <a:xfrm>
            <a:off x="731520" y="1554480"/>
            <a:ext cx="3429000" cy="2194560"/>
          </a:xfrm>
          <a:prstGeom prst="roundRect">
            <a:avLst>
              <a:gd name="adj" fmla="val 5000"/>
            </a:avLst>
          </a:prstGeom>
          <a:solidFill>
            <a:schemeClr val="bg2"/>
          </a:solidFill>
          <a:ln w="12700">
            <a:solidFill>
              <a:schemeClr val="bg2"/>
            </a:solidFill>
            <a:prstDash val="solid"/>
          </a:ln>
        </p:spPr>
      </p:sp>
      <p:sp>
        <p:nvSpPr>
          <p:cNvPr id="4" name="Icon circle lim1"/>
          <p:cNvSpPr/>
          <p:nvPr/>
        </p:nvSpPr>
        <p:spPr>
          <a:xfrm>
            <a:off x="1005840" y="1828800"/>
            <a:ext cx="566928" cy="566928"/>
          </a:xfrm>
          <a:prstGeom prst="ellipse">
            <a:avLst/>
          </a:prstGeom>
          <a:solidFill>
            <a:schemeClr val="accent1"/>
          </a:solidFill>
          <a:ln w="12700">
            <a:solidFill>
              <a:schemeClr val="accent1"/>
            </a:solidFill>
            <a:prstDash val="solid"/>
          </a:ln>
        </p:spPr>
      </p:sp>
      <p:pic>
        <p:nvPicPr>
          <p:cNvPr id="5" name="Icon lim1" descr="Synthetic data">    </p:cNvPr>
          <p:cNvPicPr>
            <a:picLocks noChangeAspect="1"/>
          </p:cNvPicPr>
          <p:nvPr/>
        </p:nvPicPr>
        <p:blipFill>
          <a:blip r:embed="rId1"/>
          <a:stretch>
            <a:fillRect/>
          </a:stretch>
        </p:blipFill>
        <p:spPr>
          <a:xfrm>
            <a:off x="1152144" y="1975104"/>
            <a:ext cx="274320" cy="274320"/>
          </a:xfrm>
          <a:prstGeom prst="rect">
            <a:avLst/>
          </a:prstGeom>
        </p:spPr>
      </p:pic>
      <p:sp>
        <p:nvSpPr>
          <p:cNvPr id="6" name="Card head lim1"/>
          <p:cNvSpPr txBox="1"/>
          <p:nvPr/>
        </p:nvSpPr>
        <p:spPr>
          <a:xfrm>
            <a:off x="1005840" y="2514600"/>
            <a:ext cx="2880360" cy="411480"/>
          </a:xfrm>
          <a:prstGeom prst="rect">
            <a:avLst/>
          </a:prstGeom>
          <a:noFill/>
          <a:ln/>
        </p:spPr>
        <p:txBody>
          <a:bodyPr wrap="square" lIns="0" tIns="0" rIns="0" bIns="0" rtlCol="0" anchor="t"/>
          <a:lstStyle/>
          <a:p>
            <a:pPr indent="0" marL="0">
              <a:buNone/>
            </a:pPr>
            <a:r>
              <a:rPr lang="en-US" sz="2000" b="1" dirty="0">
                <a:solidFill>
                  <a:schemeClr val="tx1"/>
                </a:solidFill>
              </a:rPr>
              <a:t>Synthetic data</a:t>
            </a:r>
            <a:endParaRPr lang="en-US" sz="2000" dirty="0"/>
          </a:p>
        </p:txBody>
      </p:sp>
      <p:sp>
        <p:nvSpPr>
          <p:cNvPr id="7" name="Card body lim1"/>
          <p:cNvSpPr txBox="1"/>
          <p:nvPr/>
        </p:nvSpPr>
        <p:spPr>
          <a:xfrm>
            <a:off x="1005840" y="2971800"/>
            <a:ext cx="2880360" cy="640080"/>
          </a:xfrm>
          <a:prstGeom prst="rect">
            <a:avLst/>
          </a:prstGeom>
          <a:noFill/>
          <a:ln/>
        </p:spPr>
        <p:txBody>
          <a:bodyPr wrap="square" lIns="0" tIns="0" rIns="0" bIns="0" rtlCol="0" anchor="t"/>
          <a:lstStyle/>
          <a:p>
            <a:pPr indent="0" marL="0">
              <a:buNone/>
            </a:pPr>
            <a:r>
              <a:rPr lang="en-US" sz="1500" dirty="0">
                <a:solidFill>
                  <a:schemeClr val="tx2"/>
                </a:solidFill>
              </a:rPr>
              <a:t>A fictional body control module and OEM guideline. No real ECU, CANoe or vehicle.</a:t>
            </a:r>
            <a:endParaRPr lang="en-US" sz="1500" dirty="0"/>
          </a:p>
        </p:txBody>
      </p:sp>
      <p:sp>
        <p:nvSpPr>
          <p:cNvPr id="8" name="Card lim2"/>
          <p:cNvSpPr/>
          <p:nvPr/>
        </p:nvSpPr>
        <p:spPr>
          <a:xfrm>
            <a:off x="4343400" y="1554480"/>
            <a:ext cx="3429000" cy="2194560"/>
          </a:xfrm>
          <a:prstGeom prst="roundRect">
            <a:avLst>
              <a:gd name="adj" fmla="val 5000"/>
            </a:avLst>
          </a:prstGeom>
          <a:solidFill>
            <a:schemeClr val="bg2"/>
          </a:solidFill>
          <a:ln w="12700">
            <a:solidFill>
              <a:schemeClr val="bg2"/>
            </a:solidFill>
            <a:prstDash val="solid"/>
          </a:ln>
        </p:spPr>
      </p:sp>
      <p:sp>
        <p:nvSpPr>
          <p:cNvPr id="9" name="Icon circle lim2"/>
          <p:cNvSpPr/>
          <p:nvPr/>
        </p:nvSpPr>
        <p:spPr>
          <a:xfrm>
            <a:off x="4617720" y="1828800"/>
            <a:ext cx="566928" cy="566928"/>
          </a:xfrm>
          <a:prstGeom prst="ellipse">
            <a:avLst/>
          </a:prstGeom>
          <a:solidFill>
            <a:schemeClr val="accent1"/>
          </a:solidFill>
          <a:ln w="12700">
            <a:solidFill>
              <a:schemeClr val="accent1"/>
            </a:solidFill>
            <a:prstDash val="solid"/>
          </a:ln>
        </p:spPr>
      </p:sp>
      <p:pic>
        <p:nvPicPr>
          <p:cNvPr id="10" name="Icon lim2" descr="No document ingestion">    </p:cNvPr>
          <p:cNvPicPr>
            <a:picLocks noChangeAspect="1"/>
          </p:cNvPicPr>
          <p:nvPr/>
        </p:nvPicPr>
        <p:blipFill>
          <a:blip r:embed="rId2"/>
          <a:stretch>
            <a:fillRect/>
          </a:stretch>
        </p:blipFill>
        <p:spPr>
          <a:xfrm>
            <a:off x="4764024" y="1975104"/>
            <a:ext cx="274320" cy="274320"/>
          </a:xfrm>
          <a:prstGeom prst="rect">
            <a:avLst/>
          </a:prstGeom>
        </p:spPr>
      </p:pic>
      <p:sp>
        <p:nvSpPr>
          <p:cNvPr id="11" name="Card head lim2"/>
          <p:cNvSpPr txBox="1"/>
          <p:nvPr/>
        </p:nvSpPr>
        <p:spPr>
          <a:xfrm>
            <a:off x="4617720" y="2514600"/>
            <a:ext cx="2880360" cy="411480"/>
          </a:xfrm>
          <a:prstGeom prst="rect">
            <a:avLst/>
          </a:prstGeom>
          <a:noFill/>
          <a:ln/>
        </p:spPr>
        <p:txBody>
          <a:bodyPr wrap="square" lIns="0" tIns="0" rIns="0" bIns="0" rtlCol="0" anchor="t"/>
          <a:lstStyle/>
          <a:p>
            <a:pPr indent="0" marL="0">
              <a:buNone/>
            </a:pPr>
            <a:r>
              <a:rPr lang="en-US" sz="2000" b="1" dirty="0">
                <a:solidFill>
                  <a:schemeClr val="tx1"/>
                </a:solidFill>
              </a:rPr>
              <a:t>No document ingestion</a:t>
            </a:r>
            <a:endParaRPr lang="en-US" sz="2000" dirty="0"/>
          </a:p>
        </p:txBody>
      </p:sp>
      <p:sp>
        <p:nvSpPr>
          <p:cNvPr id="12" name="Card body lim2"/>
          <p:cNvSpPr txBox="1"/>
          <p:nvPr/>
        </p:nvSpPr>
        <p:spPr>
          <a:xfrm>
            <a:off x="4617720" y="2971800"/>
            <a:ext cx="2880360" cy="640080"/>
          </a:xfrm>
          <a:prstGeom prst="rect">
            <a:avLst/>
          </a:prstGeom>
          <a:noFill/>
          <a:ln/>
        </p:spPr>
        <p:txBody>
          <a:bodyPr wrap="square" lIns="0" tIns="0" rIns="0" bIns="0" rtlCol="0" anchor="t"/>
          <a:lstStyle/>
          <a:p>
            <a:pPr indent="0" marL="0">
              <a:buNone/>
            </a:pPr>
            <a:r>
              <a:rPr lang="en-US" sz="1500" dirty="0">
                <a:solidFill>
                  <a:schemeClr val="tx2"/>
                </a:solidFill>
              </a:rPr>
              <a:t>The spec is hand-structured YAML. PDF, ODX and CDD files are not read.</a:t>
            </a:r>
            <a:endParaRPr lang="en-US" sz="1500" dirty="0"/>
          </a:p>
        </p:txBody>
      </p:sp>
      <p:sp>
        <p:nvSpPr>
          <p:cNvPr id="13" name="Card lim3"/>
          <p:cNvSpPr/>
          <p:nvPr/>
        </p:nvSpPr>
        <p:spPr>
          <a:xfrm>
            <a:off x="7955280" y="1554480"/>
            <a:ext cx="3429000" cy="2194560"/>
          </a:xfrm>
          <a:prstGeom prst="roundRect">
            <a:avLst>
              <a:gd name="adj" fmla="val 5000"/>
            </a:avLst>
          </a:prstGeom>
          <a:solidFill>
            <a:schemeClr val="bg2"/>
          </a:solidFill>
          <a:ln w="12700">
            <a:solidFill>
              <a:schemeClr val="bg2"/>
            </a:solidFill>
            <a:prstDash val="solid"/>
          </a:ln>
        </p:spPr>
      </p:sp>
      <p:sp>
        <p:nvSpPr>
          <p:cNvPr id="14" name="Icon circle lim3"/>
          <p:cNvSpPr/>
          <p:nvPr/>
        </p:nvSpPr>
        <p:spPr>
          <a:xfrm>
            <a:off x="8229600" y="1828800"/>
            <a:ext cx="566928" cy="566928"/>
          </a:xfrm>
          <a:prstGeom prst="ellipse">
            <a:avLst/>
          </a:prstGeom>
          <a:solidFill>
            <a:schemeClr val="accent1"/>
          </a:solidFill>
          <a:ln w="12700">
            <a:solidFill>
              <a:schemeClr val="accent1"/>
            </a:solidFill>
            <a:prstDash val="solid"/>
          </a:ln>
        </p:spPr>
      </p:sp>
      <p:pic>
        <p:nvPicPr>
          <p:cNvPr id="15" name="Icon lim3" descr="One author, one contract">    </p:cNvPr>
          <p:cNvPicPr>
            <a:picLocks noChangeAspect="1"/>
          </p:cNvPicPr>
          <p:nvPr/>
        </p:nvPicPr>
        <p:blipFill>
          <a:blip r:embed="rId3"/>
          <a:stretch>
            <a:fillRect/>
          </a:stretch>
        </p:blipFill>
        <p:spPr>
          <a:xfrm>
            <a:off x="8375904" y="1975104"/>
            <a:ext cx="274320" cy="274320"/>
          </a:xfrm>
          <a:prstGeom prst="rect">
            <a:avLst/>
          </a:prstGeom>
        </p:spPr>
      </p:pic>
      <p:sp>
        <p:nvSpPr>
          <p:cNvPr id="16" name="Card head lim3"/>
          <p:cNvSpPr txBox="1"/>
          <p:nvPr/>
        </p:nvSpPr>
        <p:spPr>
          <a:xfrm>
            <a:off x="8229600" y="2514600"/>
            <a:ext cx="2880360" cy="411480"/>
          </a:xfrm>
          <a:prstGeom prst="rect">
            <a:avLst/>
          </a:prstGeom>
          <a:noFill/>
          <a:ln/>
        </p:spPr>
        <p:txBody>
          <a:bodyPr wrap="square" lIns="0" tIns="0" rIns="0" bIns="0" rtlCol="0" anchor="t"/>
          <a:lstStyle/>
          <a:p>
            <a:pPr indent="0" marL="0">
              <a:buNone/>
            </a:pPr>
            <a:r>
              <a:rPr lang="en-US" sz="2000" b="1" dirty="0">
                <a:solidFill>
                  <a:schemeClr val="tx1"/>
                </a:solidFill>
              </a:rPr>
              <a:t>One author, one contract</a:t>
            </a:r>
            <a:endParaRPr lang="en-US" sz="2000" dirty="0"/>
          </a:p>
        </p:txBody>
      </p:sp>
      <p:sp>
        <p:nvSpPr>
          <p:cNvPr id="17" name="Card body lim3"/>
          <p:cNvSpPr txBox="1"/>
          <p:nvPr/>
        </p:nvSpPr>
        <p:spPr>
          <a:xfrm>
            <a:off x="8229600" y="2971800"/>
            <a:ext cx="2880360" cy="640080"/>
          </a:xfrm>
          <a:prstGeom prst="rect">
            <a:avLst/>
          </a:prstGeom>
          <a:noFill/>
          <a:ln/>
        </p:spPr>
        <p:txBody>
          <a:bodyPr wrap="square" lIns="0" tIns="0" rIns="0" bIns="0" rtlCol="0" anchor="t"/>
          <a:lstStyle/>
          <a:p>
            <a:pPr indent="0" marL="0">
              <a:buNone/>
            </a:pPr>
            <a:r>
              <a:rPr lang="en-US" sz="1500" dirty="0">
                <a:solidFill>
                  <a:schemeClr val="tx2"/>
                </a:solidFill>
              </a:rPr>
              <a:t>Rules engine, simulator and gold tests share a source, so agreement is not independent proof.</a:t>
            </a:r>
            <a:endParaRPr lang="en-US" sz="1500" dirty="0"/>
          </a:p>
        </p:txBody>
      </p:sp>
      <p:sp>
        <p:nvSpPr>
          <p:cNvPr id="18" name="Card lim4"/>
          <p:cNvSpPr/>
          <p:nvPr/>
        </p:nvSpPr>
        <p:spPr>
          <a:xfrm>
            <a:off x="731520" y="3931920"/>
            <a:ext cx="3429000" cy="2194560"/>
          </a:xfrm>
          <a:prstGeom prst="roundRect">
            <a:avLst>
              <a:gd name="adj" fmla="val 5000"/>
            </a:avLst>
          </a:prstGeom>
          <a:solidFill>
            <a:schemeClr val="bg2"/>
          </a:solidFill>
          <a:ln w="12700">
            <a:solidFill>
              <a:schemeClr val="bg2"/>
            </a:solidFill>
            <a:prstDash val="solid"/>
          </a:ln>
        </p:spPr>
      </p:sp>
      <p:sp>
        <p:nvSpPr>
          <p:cNvPr id="19" name="Icon circle lim4"/>
          <p:cNvSpPr/>
          <p:nvPr/>
        </p:nvSpPr>
        <p:spPr>
          <a:xfrm>
            <a:off x="1005840" y="4206240"/>
            <a:ext cx="566928" cy="566928"/>
          </a:xfrm>
          <a:prstGeom prst="ellipse">
            <a:avLst/>
          </a:prstGeom>
          <a:solidFill>
            <a:schemeClr val="accent1"/>
          </a:solidFill>
          <a:ln w="12700">
            <a:solidFill>
              <a:schemeClr val="accent1"/>
            </a:solidFill>
            <a:prstDash val="solid"/>
          </a:ln>
        </p:spPr>
      </p:sp>
      <p:pic>
        <p:nvPicPr>
          <p:cNvPr id="20" name="Icon lim4" descr="Small blind samples">    </p:cNvPr>
          <p:cNvPicPr>
            <a:picLocks noChangeAspect="1"/>
          </p:cNvPicPr>
          <p:nvPr/>
        </p:nvPicPr>
        <p:blipFill>
          <a:blip r:embed="rId4"/>
          <a:stretch>
            <a:fillRect/>
          </a:stretch>
        </p:blipFill>
        <p:spPr>
          <a:xfrm>
            <a:off x="1152144" y="4352544"/>
            <a:ext cx="274320" cy="274320"/>
          </a:xfrm>
          <a:prstGeom prst="rect">
            <a:avLst/>
          </a:prstGeom>
        </p:spPr>
      </p:pic>
      <p:sp>
        <p:nvSpPr>
          <p:cNvPr id="21" name="Card head lim4"/>
          <p:cNvSpPr txBox="1"/>
          <p:nvPr/>
        </p:nvSpPr>
        <p:spPr>
          <a:xfrm>
            <a:off x="1005840" y="4892040"/>
            <a:ext cx="2880360" cy="411480"/>
          </a:xfrm>
          <a:prstGeom prst="rect">
            <a:avLst/>
          </a:prstGeom>
          <a:noFill/>
          <a:ln/>
        </p:spPr>
        <p:txBody>
          <a:bodyPr wrap="square" lIns="0" tIns="0" rIns="0" bIns="0" rtlCol="0" anchor="t"/>
          <a:lstStyle/>
          <a:p>
            <a:pPr indent="0" marL="0">
              <a:buNone/>
            </a:pPr>
            <a:r>
              <a:rPr lang="en-US" sz="2000" b="1" dirty="0">
                <a:solidFill>
                  <a:schemeClr val="tx1"/>
                </a:solidFill>
              </a:rPr>
              <a:t>Small blind samples</a:t>
            </a:r>
            <a:endParaRPr lang="en-US" sz="2000" dirty="0"/>
          </a:p>
        </p:txBody>
      </p:sp>
      <p:sp>
        <p:nvSpPr>
          <p:cNvPr id="22" name="Card body lim4"/>
          <p:cNvSpPr txBox="1"/>
          <p:nvPr/>
        </p:nvSpPr>
        <p:spPr>
          <a:xfrm>
            <a:off x="1005840" y="5349240"/>
            <a:ext cx="2880360" cy="640080"/>
          </a:xfrm>
          <a:prstGeom prst="rect">
            <a:avLst/>
          </a:prstGeom>
          <a:noFill/>
          <a:ln/>
        </p:spPr>
        <p:txBody>
          <a:bodyPr wrap="square" lIns="0" tIns="0" rIns="0" bIns="0" rtlCol="0" anchor="t"/>
          <a:lstStyle/>
          <a:p>
            <a:pPr indent="0" marL="0">
              <a:buNone/>
            </a:pPr>
            <a:r>
              <a:rPr lang="en-US" sz="1500" dirty="0">
                <a:solidFill>
                  <a:schemeClr val="tx2"/>
                </a:solidFill>
              </a:rPr>
              <a:t>15 bugs, 25 questions, 16 requirements. One case moves a score by several points.</a:t>
            </a:r>
            <a:endParaRPr lang="en-US" sz="1500" dirty="0"/>
          </a:p>
        </p:txBody>
      </p:sp>
      <p:sp>
        <p:nvSpPr>
          <p:cNvPr id="23" name="Card lim5"/>
          <p:cNvSpPr/>
          <p:nvPr/>
        </p:nvSpPr>
        <p:spPr>
          <a:xfrm>
            <a:off x="4343400" y="3931920"/>
            <a:ext cx="3429000" cy="2194560"/>
          </a:xfrm>
          <a:prstGeom prst="roundRect">
            <a:avLst>
              <a:gd name="adj" fmla="val 5000"/>
            </a:avLst>
          </a:prstGeom>
          <a:solidFill>
            <a:schemeClr val="bg2"/>
          </a:solidFill>
          <a:ln w="12700">
            <a:solidFill>
              <a:schemeClr val="bg2"/>
            </a:solidFill>
            <a:prstDash val="solid"/>
          </a:ln>
        </p:spPr>
      </p:sp>
      <p:sp>
        <p:nvSpPr>
          <p:cNvPr id="24" name="Icon circle lim5"/>
          <p:cNvSpPr/>
          <p:nvPr/>
        </p:nvSpPr>
        <p:spPr>
          <a:xfrm>
            <a:off x="4617720" y="4206240"/>
            <a:ext cx="566928" cy="566928"/>
          </a:xfrm>
          <a:prstGeom prst="ellipse">
            <a:avLst/>
          </a:prstGeom>
          <a:solidFill>
            <a:schemeClr val="accent1"/>
          </a:solidFill>
          <a:ln w="12700">
            <a:solidFill>
              <a:schemeClr val="accent1"/>
            </a:solidFill>
            <a:prstDash val="solid"/>
          </a:ln>
        </p:spPr>
      </p:sp>
      <p:pic>
        <p:nvPicPr>
          <p:cNvPr id="25" name="Icon lim5" descr="Small model variance">    </p:cNvPr>
          <p:cNvPicPr>
            <a:picLocks noChangeAspect="1"/>
          </p:cNvPicPr>
          <p:nvPr/>
        </p:nvPicPr>
        <p:blipFill>
          <a:blip r:embed="rId5"/>
          <a:stretch>
            <a:fillRect/>
          </a:stretch>
        </p:blipFill>
        <p:spPr>
          <a:xfrm>
            <a:off x="4764024" y="4352544"/>
            <a:ext cx="274320" cy="274320"/>
          </a:xfrm>
          <a:prstGeom prst="rect">
            <a:avLst/>
          </a:prstGeom>
        </p:spPr>
      </p:pic>
      <p:sp>
        <p:nvSpPr>
          <p:cNvPr id="26" name="Card head lim5"/>
          <p:cNvSpPr txBox="1"/>
          <p:nvPr/>
        </p:nvSpPr>
        <p:spPr>
          <a:xfrm>
            <a:off x="4617720" y="4892040"/>
            <a:ext cx="2880360" cy="411480"/>
          </a:xfrm>
          <a:prstGeom prst="rect">
            <a:avLst/>
          </a:prstGeom>
          <a:noFill/>
          <a:ln/>
        </p:spPr>
        <p:txBody>
          <a:bodyPr wrap="square" lIns="0" tIns="0" rIns="0" bIns="0" rtlCol="0" anchor="t"/>
          <a:lstStyle/>
          <a:p>
            <a:pPr indent="0" marL="0">
              <a:buNone/>
            </a:pPr>
            <a:r>
              <a:rPr lang="en-US" sz="2000" b="1" dirty="0">
                <a:solidFill>
                  <a:schemeClr val="tx1"/>
                </a:solidFill>
              </a:rPr>
              <a:t>Small model variance</a:t>
            </a:r>
            <a:endParaRPr lang="en-US" sz="2000" dirty="0"/>
          </a:p>
        </p:txBody>
      </p:sp>
      <p:sp>
        <p:nvSpPr>
          <p:cNvPr id="27" name="Card body lim5"/>
          <p:cNvSpPr txBox="1"/>
          <p:nvPr/>
        </p:nvSpPr>
        <p:spPr>
          <a:xfrm>
            <a:off x="4617720" y="5349240"/>
            <a:ext cx="2880360" cy="640080"/>
          </a:xfrm>
          <a:prstGeom prst="rect">
            <a:avLst/>
          </a:prstGeom>
          <a:noFill/>
          <a:ln/>
        </p:spPr>
        <p:txBody>
          <a:bodyPr wrap="square" lIns="0" tIns="0" rIns="0" bIns="0" rtlCol="0" anchor="t"/>
          <a:lstStyle/>
          <a:p>
            <a:pPr indent="0" marL="0">
              <a:buNone/>
            </a:pPr>
            <a:r>
              <a:rPr lang="en-US" sz="1500" dirty="0">
                <a:solidFill>
                  <a:schemeClr val="tx2"/>
                </a:solidFill>
              </a:rPr>
              <a:t>Which tests get planned varies between runs. Requirement parsing F1 is 62%.</a:t>
            </a:r>
            <a:endParaRPr lang="en-US" sz="1500" dirty="0"/>
          </a:p>
        </p:txBody>
      </p:sp>
      <p:sp>
        <p:nvSpPr>
          <p:cNvPr id="28" name="Card lim6"/>
          <p:cNvSpPr/>
          <p:nvPr/>
        </p:nvSpPr>
        <p:spPr>
          <a:xfrm>
            <a:off x="7955280" y="3931920"/>
            <a:ext cx="3429000" cy="2194560"/>
          </a:xfrm>
          <a:prstGeom prst="roundRect">
            <a:avLst>
              <a:gd name="adj" fmla="val 5000"/>
            </a:avLst>
          </a:prstGeom>
          <a:solidFill>
            <a:schemeClr val="bg2"/>
          </a:solidFill>
          <a:ln w="12700">
            <a:solidFill>
              <a:schemeClr val="bg2"/>
            </a:solidFill>
            <a:prstDash val="solid"/>
          </a:ln>
        </p:spPr>
      </p:sp>
      <p:sp>
        <p:nvSpPr>
          <p:cNvPr id="29" name="Icon circle lim6"/>
          <p:cNvSpPr/>
          <p:nvPr/>
        </p:nvSpPr>
        <p:spPr>
          <a:xfrm>
            <a:off x="8229600" y="4206240"/>
            <a:ext cx="566928" cy="566928"/>
          </a:xfrm>
          <a:prstGeom prst="ellipse">
            <a:avLst/>
          </a:prstGeom>
          <a:solidFill>
            <a:schemeClr val="accent1"/>
          </a:solidFill>
          <a:ln w="12700">
            <a:solidFill>
              <a:schemeClr val="accent1"/>
            </a:solidFill>
            <a:prstDash val="solid"/>
          </a:ln>
        </p:spPr>
      </p:sp>
      <p:pic>
        <p:nvPicPr>
          <p:cNvPr id="30" name="Icon lim6" descr="Not yet measured">    </p:cNvPr>
          <p:cNvPicPr>
            <a:picLocks noChangeAspect="1"/>
          </p:cNvPicPr>
          <p:nvPr/>
        </p:nvPicPr>
        <p:blipFill>
          <a:blip r:embed="rId6"/>
          <a:stretch>
            <a:fillRect/>
          </a:stretch>
        </p:blipFill>
        <p:spPr>
          <a:xfrm>
            <a:off x="8375904" y="4352544"/>
            <a:ext cx="274320" cy="274320"/>
          </a:xfrm>
          <a:prstGeom prst="rect">
            <a:avLst/>
          </a:prstGeom>
        </p:spPr>
      </p:pic>
      <p:sp>
        <p:nvSpPr>
          <p:cNvPr id="31" name="Card head lim6"/>
          <p:cNvSpPr txBox="1"/>
          <p:nvPr/>
        </p:nvSpPr>
        <p:spPr>
          <a:xfrm>
            <a:off x="8229600" y="4892040"/>
            <a:ext cx="2880360" cy="411480"/>
          </a:xfrm>
          <a:prstGeom prst="rect">
            <a:avLst/>
          </a:prstGeom>
          <a:noFill/>
          <a:ln/>
        </p:spPr>
        <p:txBody>
          <a:bodyPr wrap="square" lIns="0" tIns="0" rIns="0" bIns="0" rtlCol="0" anchor="t"/>
          <a:lstStyle/>
          <a:p>
            <a:pPr indent="0" marL="0">
              <a:buNone/>
            </a:pPr>
            <a:r>
              <a:rPr lang="en-US" sz="2000" b="1" dirty="0">
                <a:solidFill>
                  <a:schemeClr val="tx1"/>
                </a:solidFill>
              </a:rPr>
              <a:t>Not yet measured</a:t>
            </a:r>
            <a:endParaRPr lang="en-US" sz="2000" dirty="0"/>
          </a:p>
        </p:txBody>
      </p:sp>
      <p:sp>
        <p:nvSpPr>
          <p:cNvPr id="32" name="Card body lim6"/>
          <p:cNvSpPr txBox="1"/>
          <p:nvPr/>
        </p:nvSpPr>
        <p:spPr>
          <a:xfrm>
            <a:off x="8229600" y="5349240"/>
            <a:ext cx="2880360" cy="640080"/>
          </a:xfrm>
          <a:prstGeom prst="rect">
            <a:avLst/>
          </a:prstGeom>
          <a:noFill/>
          <a:ln/>
        </p:spPr>
        <p:txBody>
          <a:bodyPr wrap="square" lIns="0" tIns="0" rIns="0" bIns="0" rtlCol="0" anchor="t"/>
          <a:lstStyle/>
          <a:p>
            <a:pPr indent="0" marL="0">
              <a:buNone/>
            </a:pPr>
            <a:r>
              <a:rPr lang="en-US" sz="1500" dirty="0">
                <a:solidFill>
                  <a:schemeClr val="tx2"/>
                </a:solidFill>
              </a:rPr>
              <a:t>Manual test-design time baseline. CAPL export never run in CANoe.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Results: tests generated</a:t>
            </a:r>
            <a:endParaRPr lang="en-US" sz="3600" dirty="0"/>
          </a:p>
        </p:txBody>
      </p:sp>
      <p:sp>
        <p:nvSpPr>
          <p:cNvPr id="3" name="Stat 1"/>
          <p:cNvSpPr txBox="1"/>
          <p:nvPr/>
        </p:nvSpPr>
        <p:spPr>
          <a:xfrm>
            <a:off x="731520" y="1737360"/>
            <a:ext cx="2468880" cy="914400"/>
          </a:xfrm>
          <a:prstGeom prst="rect">
            <a:avLst/>
          </a:prstGeom>
          <a:noFill/>
          <a:ln/>
        </p:spPr>
        <p:txBody>
          <a:bodyPr wrap="square" lIns="0" tIns="0" rIns="0" bIns="0" rtlCol="0" anchor="ctr"/>
          <a:lstStyle/>
          <a:p>
            <a:pPr indent="0" marL="0">
              <a:buNone/>
            </a:pPr>
            <a:r>
              <a:rPr lang="en-US" sz="4800" b="1" dirty="0">
                <a:solidFill>
                  <a:schemeClr val="accent1"/>
                </a:solidFill>
              </a:rPr>
              <a:t>79</a:t>
            </a:r>
            <a:endParaRPr lang="en-US" sz="4800" dirty="0"/>
          </a:p>
        </p:txBody>
      </p:sp>
      <p:sp>
        <p:nvSpPr>
          <p:cNvPr id="4" name="Stat label 1"/>
          <p:cNvSpPr txBox="1"/>
          <p:nvPr/>
        </p:nvSpPr>
        <p:spPr>
          <a:xfrm>
            <a:off x="731520" y="2697480"/>
            <a:ext cx="2377440" cy="822960"/>
          </a:xfrm>
          <a:prstGeom prst="rect">
            <a:avLst/>
          </a:prstGeom>
          <a:noFill/>
          <a:ln/>
        </p:spPr>
        <p:txBody>
          <a:bodyPr wrap="square" lIns="0" tIns="0" rIns="0" bIns="0" rtlCol="0" anchor="t"/>
          <a:lstStyle/>
          <a:p>
            <a:pPr indent="0" marL="0">
              <a:buNone/>
            </a:pPr>
            <a:r>
              <a:rPr lang="en-US" sz="1600" dirty="0">
                <a:solidFill>
                  <a:schemeClr val="tx2"/>
                </a:solidFill>
              </a:rPr>
              <a:t>tests generated from 15 requirements</a:t>
            </a:r>
            <a:endParaRPr lang="en-US" sz="1600" dirty="0"/>
          </a:p>
        </p:txBody>
      </p:sp>
      <p:sp>
        <p:nvSpPr>
          <p:cNvPr id="5" name="Stat 2"/>
          <p:cNvSpPr txBox="1"/>
          <p:nvPr/>
        </p:nvSpPr>
        <p:spPr>
          <a:xfrm>
            <a:off x="3429000" y="1737360"/>
            <a:ext cx="2468880" cy="914400"/>
          </a:xfrm>
          <a:prstGeom prst="rect">
            <a:avLst/>
          </a:prstGeom>
          <a:noFill/>
          <a:ln/>
        </p:spPr>
        <p:txBody>
          <a:bodyPr wrap="square" lIns="0" tIns="0" rIns="0" bIns="0" rtlCol="0" anchor="ctr"/>
          <a:lstStyle/>
          <a:p>
            <a:pPr indent="0" marL="0">
              <a:buNone/>
            </a:pPr>
            <a:r>
              <a:rPr lang="en-US" sz="4800" b="1" dirty="0">
                <a:solidFill>
                  <a:schemeClr val="accent1"/>
                </a:solidFill>
              </a:rPr>
              <a:t>100%</a:t>
            </a:r>
            <a:endParaRPr lang="en-US" sz="4800" dirty="0"/>
          </a:p>
        </p:txBody>
      </p:sp>
      <p:sp>
        <p:nvSpPr>
          <p:cNvPr id="6" name="Stat label 2"/>
          <p:cNvSpPr txBox="1"/>
          <p:nvPr/>
        </p:nvSpPr>
        <p:spPr>
          <a:xfrm>
            <a:off x="3429000" y="2697480"/>
            <a:ext cx="2377440" cy="822960"/>
          </a:xfrm>
          <a:prstGeom prst="rect">
            <a:avLst/>
          </a:prstGeom>
          <a:noFill/>
          <a:ln/>
        </p:spPr>
        <p:txBody>
          <a:bodyPr wrap="square" lIns="0" tIns="0" rIns="0" bIns="0" rtlCol="0" anchor="t"/>
          <a:lstStyle/>
          <a:p>
            <a:pPr indent="0" marL="0">
              <a:buNone/>
            </a:pPr>
            <a:r>
              <a:rPr lang="en-US" sz="1600" dirty="0">
                <a:solidFill>
                  <a:schemeClr val="tx2"/>
                </a:solidFill>
              </a:rPr>
              <a:t>valid requests (237/237)</a:t>
            </a:r>
            <a:endParaRPr lang="en-US" sz="1600" dirty="0"/>
          </a:p>
        </p:txBody>
      </p:sp>
      <p:sp>
        <p:nvSpPr>
          <p:cNvPr id="7" name="Stat 3"/>
          <p:cNvSpPr txBox="1"/>
          <p:nvPr/>
        </p:nvSpPr>
        <p:spPr>
          <a:xfrm>
            <a:off x="6126480" y="1737360"/>
            <a:ext cx="2468880" cy="914400"/>
          </a:xfrm>
          <a:prstGeom prst="rect">
            <a:avLst/>
          </a:prstGeom>
          <a:noFill/>
          <a:ln/>
        </p:spPr>
        <p:txBody>
          <a:bodyPr wrap="square" lIns="0" tIns="0" rIns="0" bIns="0" rtlCol="0" anchor="ctr"/>
          <a:lstStyle/>
          <a:p>
            <a:pPr indent="0" marL="0">
              <a:buNone/>
            </a:pPr>
            <a:r>
              <a:rPr lang="en-US" sz="4800" b="1" dirty="0">
                <a:solidFill>
                  <a:schemeClr val="accent1"/>
                </a:solidFill>
              </a:rPr>
              <a:t>100%</a:t>
            </a:r>
            <a:endParaRPr lang="en-US" sz="4800" dirty="0"/>
          </a:p>
        </p:txBody>
      </p:sp>
      <p:sp>
        <p:nvSpPr>
          <p:cNvPr id="8" name="Stat label 3"/>
          <p:cNvSpPr txBox="1"/>
          <p:nvPr/>
        </p:nvSpPr>
        <p:spPr>
          <a:xfrm>
            <a:off x="6126480" y="2697480"/>
            <a:ext cx="2377440" cy="822960"/>
          </a:xfrm>
          <a:prstGeom prst="rect">
            <a:avLst/>
          </a:prstGeom>
          <a:noFill/>
          <a:ln/>
        </p:spPr>
        <p:txBody>
          <a:bodyPr wrap="square" lIns="0" tIns="0" rIns="0" bIns="0" rtlCol="0" anchor="t"/>
          <a:lstStyle/>
          <a:p>
            <a:pPr indent="0" marL="0">
              <a:buNone/>
            </a:pPr>
            <a:r>
              <a:rPr lang="en-US" sz="1600" dirty="0">
                <a:solidFill>
                  <a:schemeClr val="tx2"/>
                </a:solidFill>
              </a:rPr>
              <a:t>pass on the clean simulator (79/79)</a:t>
            </a:r>
            <a:endParaRPr lang="en-US" sz="1600" dirty="0"/>
          </a:p>
        </p:txBody>
      </p:sp>
      <p:sp>
        <p:nvSpPr>
          <p:cNvPr id="9" name="Stat 4"/>
          <p:cNvSpPr txBox="1"/>
          <p:nvPr/>
        </p:nvSpPr>
        <p:spPr>
          <a:xfrm>
            <a:off x="8823960" y="1737360"/>
            <a:ext cx="2468880" cy="914400"/>
          </a:xfrm>
          <a:prstGeom prst="rect">
            <a:avLst/>
          </a:prstGeom>
          <a:noFill/>
          <a:ln/>
        </p:spPr>
        <p:txBody>
          <a:bodyPr wrap="square" lIns="0" tIns="0" rIns="0" bIns="0" rtlCol="0" anchor="ctr"/>
          <a:lstStyle/>
          <a:p>
            <a:pPr indent="0" marL="0">
              <a:buNone/>
            </a:pPr>
            <a:r>
              <a:rPr lang="en-US" sz="4800" b="1" dirty="0">
                <a:solidFill>
                  <a:schemeClr val="accent1"/>
                </a:solidFill>
              </a:rPr>
              <a:t>384/384</a:t>
            </a:r>
            <a:endParaRPr lang="en-US" sz="4800" dirty="0"/>
          </a:p>
        </p:txBody>
      </p:sp>
      <p:sp>
        <p:nvSpPr>
          <p:cNvPr id="10" name="Stat label 4"/>
          <p:cNvSpPr txBox="1"/>
          <p:nvPr/>
        </p:nvSpPr>
        <p:spPr>
          <a:xfrm>
            <a:off x="8823960" y="2697480"/>
            <a:ext cx="2377440" cy="822960"/>
          </a:xfrm>
          <a:prstGeom prst="rect">
            <a:avLst/>
          </a:prstGeom>
          <a:noFill/>
          <a:ln/>
        </p:spPr>
        <p:txBody>
          <a:bodyPr wrap="square" lIns="0" tIns="0" rIns="0" bIns="0" rtlCol="0" anchor="t"/>
          <a:lstStyle/>
          <a:p>
            <a:pPr indent="0" marL="0">
              <a:buNone/>
            </a:pPr>
            <a:r>
              <a:rPr lang="en-US" sz="1600" dirty="0">
                <a:solidFill>
                  <a:schemeClr val="tx2"/>
                </a:solidFill>
              </a:rPr>
              <a:t>citations resolve to a real source</a:t>
            </a:r>
            <a:endParaRPr lang="en-US" sz="1600" dirty="0"/>
          </a:p>
        </p:txBody>
      </p:sp>
      <p:sp>
        <p:nvSpPr>
          <p:cNvPr id="11" name="Category line"/>
          <p:cNvSpPr txBox="1"/>
          <p:nvPr/>
        </p:nvSpPr>
        <p:spPr>
          <a:xfrm>
            <a:off x="731520" y="4023360"/>
            <a:ext cx="10698480" cy="457200"/>
          </a:xfrm>
          <a:prstGeom prst="rect">
            <a:avLst/>
          </a:prstGeom>
          <a:noFill/>
          <a:ln/>
        </p:spPr>
        <p:txBody>
          <a:bodyPr wrap="square" lIns="0" tIns="0" rIns="0" bIns="0" rtlCol="0" anchor="ctr"/>
          <a:lstStyle/>
          <a:p>
            <a:pPr indent="0" marL="0">
              <a:buNone/>
            </a:pPr>
            <a:r>
              <a:rPr lang="en-US" sz="1800" b="1" dirty="0">
                <a:solidFill>
                  <a:schemeClr val="tx1"/>
                </a:solidFill>
              </a:rPr>
              <a:t>Test types: </a:t>
            </a:r>
            <a:pPr indent="0" marL="0">
              <a:buNone/>
            </a:pPr>
            <a:r>
              <a:rPr lang="en-US" sz="1800" dirty="0">
                <a:solidFill>
                  <a:schemeClr val="tx1"/>
                </a:solidFill>
              </a:rPr>
              <a:t>positive 26  |  negative 31  |  session 5  |  security 8  |  timing 9</a:t>
            </a:r>
            <a:endParaRPr lang="en-US" sz="1800" dirty="0"/>
          </a:p>
        </p:txBody>
      </p:sp>
      <p:sp>
        <p:nvSpPr>
          <p:cNvPr id="12" name="Coverage line"/>
          <p:cNvSpPr txBox="1"/>
          <p:nvPr/>
        </p:nvSpPr>
        <p:spPr>
          <a:xfrm>
            <a:off x="731520" y="4572000"/>
            <a:ext cx="10698480" cy="457200"/>
          </a:xfrm>
          <a:prstGeom prst="rect">
            <a:avLst/>
          </a:prstGeom>
          <a:noFill/>
          <a:ln/>
        </p:spPr>
        <p:txBody>
          <a:bodyPr wrap="square" lIns="0" tIns="0" rIns="0" bIns="0" rtlCol="0" anchor="ctr"/>
          <a:lstStyle/>
          <a:p>
            <a:pPr indent="0" marL="0">
              <a:buNone/>
            </a:pPr>
            <a:r>
              <a:rPr lang="en-US" sz="1800" b="1" dirty="0">
                <a:solidFill>
                  <a:schemeClr val="tx1"/>
                </a:solidFill>
              </a:rPr>
              <a:t>Spec items covered: </a:t>
            </a:r>
            <a:pPr indent="0" marL="0">
              <a:buNone/>
            </a:pPr>
            <a:r>
              <a:rPr lang="en-US" sz="1800" dirty="0">
                <a:solidFill>
                  <a:schemeClr val="tx1"/>
                </a:solidFill>
              </a:rPr>
              <a:t>36 of 46 by the generated tests, 46 of 46 by the 1200-test conformance sweep.</a:t>
            </a:r>
            <a:endParaRPr lang="en-US" sz="1800" dirty="0"/>
          </a:p>
        </p:txBody>
      </p:sp>
      <p:sp>
        <p:nvSpPr>
          <p:cNvPr id="13" name="Reuse line"/>
          <p:cNvSpPr txBox="1"/>
          <p:nvPr/>
        </p:nvSpPr>
        <p:spPr>
          <a:xfrm>
            <a:off x="731520" y="5120640"/>
            <a:ext cx="10698480" cy="457200"/>
          </a:xfrm>
          <a:prstGeom prst="rect">
            <a:avLst/>
          </a:prstGeom>
          <a:noFill/>
          <a:ln/>
        </p:spPr>
        <p:txBody>
          <a:bodyPr wrap="square" lIns="0" tIns="0" rIns="0" bIns="0" rtlCol="0" anchor="ctr"/>
          <a:lstStyle/>
          <a:p>
            <a:pPr indent="0" marL="0">
              <a:buNone/>
            </a:pPr>
            <a:r>
              <a:rPr lang="en-US" sz="1800" b="1" dirty="0">
                <a:solidFill>
                  <a:schemeClr val="tx1"/>
                </a:solidFill>
              </a:rPr>
              <a:t>Reuse: </a:t>
            </a:r>
            <a:pPr indent="0" marL="0">
              <a:buNone/>
            </a:pPr>
            <a:r>
              <a:rPr lang="en-US" sz="1800" dirty="0">
                <a:solidFill>
                  <a:schemeClr val="tx1"/>
                </a:solidFill>
              </a:rPr>
              <a:t>79 of 79 tests built from 27 approved templates; the language model never writes a byte.</a:t>
            </a:r>
            <a:endParaRPr lang="en-US" sz="1800" dirty="0"/>
          </a:p>
        </p:txBody>
      </p:sp>
      <p:sp>
        <p:nvSpPr>
          <p:cNvPr id="14" name="Footnote"/>
          <p:cNvSpPr txBox="1"/>
          <p:nvPr/>
        </p:nvSpPr>
        <p:spPr>
          <a:xfrm>
            <a:off x="731520" y="6355080"/>
            <a:ext cx="9875520" cy="274320"/>
          </a:xfrm>
          <a:prstGeom prst="rect">
            <a:avLst/>
          </a:prstGeom>
          <a:noFill/>
          <a:ln/>
        </p:spPr>
        <p:txBody>
          <a:bodyPr wrap="square" lIns="0" tIns="0" rIns="0" bIns="0" rtlCol="0" anchor="ctr"/>
          <a:lstStyle/>
          <a:p>
            <a:pPr indent="0" marL="0">
              <a:buNone/>
            </a:pPr>
            <a:r>
              <a:rPr lang="en-US" sz="1000" dirty="0">
                <a:solidFill>
                  <a:schemeClr val="tx2"/>
                </a:solidFill>
              </a:rPr>
              <a:t>Synthetic Body Control Module spec; one run on a local 3B model (git 8427c50). Validity and clean-pass are high by construction, because the rules engine builds the bytes.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502920"/>
            <a:ext cx="10698480" cy="822960"/>
          </a:xfrm>
          <a:prstGeom prst="rect">
            <a:avLst/>
          </a:prstGeom>
          <a:noFill/>
          <a:ln/>
        </p:spPr>
        <p:txBody>
          <a:bodyPr wrap="square" lIns="0" tIns="0" rIns="0" bIns="0" rtlCol="0" anchor="t"/>
          <a:lstStyle/>
          <a:p>
            <a:pPr algn="l" indent="0" marL="0">
              <a:buNone/>
            </a:pPr>
            <a:r>
              <a:rPr lang="en-US" sz="3600" b="1" dirty="0">
                <a:solidFill>
                  <a:schemeClr val="tx1"/>
                </a:solidFill>
              </a:rPr>
              <a:t>Results: defects, questions and understanding</a:t>
            </a:r>
            <a:endParaRPr lang="en-US" sz="3600" dirty="0"/>
          </a:p>
        </p:txBody>
      </p:sp>
      <p:sp>
        <p:nvSpPr>
          <p:cNvPr id="3" name="Chart title"/>
          <p:cNvSpPr txBox="1"/>
          <p:nvPr/>
        </p:nvSpPr>
        <p:spPr>
          <a:xfrm>
            <a:off x="731520" y="1554480"/>
            <a:ext cx="5486400" cy="365760"/>
          </a:xfrm>
          <a:prstGeom prst="rect">
            <a:avLst/>
          </a:prstGeom>
          <a:noFill/>
          <a:ln/>
        </p:spPr>
        <p:txBody>
          <a:bodyPr wrap="square" lIns="0" tIns="0" rIns="0" bIns="0" rtlCol="0" anchor="ctr"/>
          <a:lstStyle/>
          <a:p>
            <a:pPr indent="0" marL="0">
              <a:buNone/>
            </a:pPr>
            <a:r>
              <a:rPr lang="en-US" sz="1800" b="1" dirty="0">
                <a:solidFill>
                  <a:schemeClr val="tx1"/>
                </a:solidFill>
              </a:rPr>
              <a:t>Blind bugs caught (of 15)</a:t>
            </a:r>
            <a:endParaRPr lang="en-US" sz="1800" dirty="0"/>
          </a:p>
        </p:txBody>
      </p:sp>
      <p:graphicFrame>
        <p:nvGraphicFramePr>
          <p:cNvPr id="4" name="Chart 0" descr=""/>
          <p:cNvGraphicFramePr/>
          <p:nvPr/>
        </p:nvGraphicFramePr>
        <p:xfrm>
          <a:off x="640080" y="1965960"/>
          <a:ext cx="5760720" cy="4023360"/>
        </p:xfrm>
        <a:graphic xmlns:a="http://schemas.openxmlformats.org/drawingml/2006/main">
          <a:graphicData uri="http://schemas.openxmlformats.org/drawingml/2006/chart">
            <c:chart xmlns:c="http://schemas.openxmlformats.org/drawingml/2006/chart" r:id="rId1"/>
          </a:graphicData>
        </a:graphic>
      </p:graphicFrame>
      <p:sp>
        <p:nvSpPr>
          <p:cNvPr id="5" name="Right stat 1"/>
          <p:cNvSpPr txBox="1"/>
          <p:nvPr/>
        </p:nvSpPr>
        <p:spPr>
          <a:xfrm>
            <a:off x="6949440" y="1600200"/>
            <a:ext cx="4480560" cy="731520"/>
          </a:xfrm>
          <a:prstGeom prst="rect">
            <a:avLst/>
          </a:prstGeom>
          <a:noFill/>
          <a:ln/>
        </p:spPr>
        <p:txBody>
          <a:bodyPr wrap="square" lIns="0" tIns="0" rIns="0" bIns="0" rtlCol="0" anchor="ctr"/>
          <a:lstStyle/>
          <a:p>
            <a:pPr indent="0" marL="0">
              <a:buNone/>
            </a:pPr>
            <a:r>
              <a:rPr lang="en-US" sz="4000" b="1" dirty="0">
                <a:solidFill>
                  <a:schemeClr val="accent1"/>
                </a:solidFill>
              </a:rPr>
              <a:t>19/21</a:t>
            </a:r>
            <a:endParaRPr lang="en-US" sz="4000" dirty="0"/>
          </a:p>
        </p:txBody>
      </p:sp>
      <p:sp>
        <p:nvSpPr>
          <p:cNvPr id="6" name="Right label 1"/>
          <p:cNvSpPr txBox="1"/>
          <p:nvPr/>
        </p:nvSpPr>
        <p:spPr>
          <a:xfrm>
            <a:off x="6949440" y="2331720"/>
            <a:ext cx="4480560" cy="640080"/>
          </a:xfrm>
          <a:prstGeom prst="rect">
            <a:avLst/>
          </a:prstGeom>
          <a:noFill/>
          <a:ln/>
        </p:spPr>
        <p:txBody>
          <a:bodyPr wrap="square" lIns="0" tIns="0" rIns="0" bIns="0" rtlCol="0" anchor="t"/>
          <a:lstStyle/>
          <a:p>
            <a:pPr indent="0" marL="0">
              <a:buNone/>
            </a:pPr>
            <a:r>
              <a:rPr lang="en-US" sz="1600" dirty="0">
                <a:solidFill>
                  <a:schemeClr val="tx2"/>
                </a:solidFill>
              </a:rPr>
              <a:t>questions answered correctly (90%), with correct citations</a:t>
            </a:r>
            <a:endParaRPr lang="en-US" sz="1600" dirty="0"/>
          </a:p>
        </p:txBody>
      </p:sp>
      <p:sp>
        <p:nvSpPr>
          <p:cNvPr id="7" name="Right stat 2"/>
          <p:cNvSpPr txBox="1"/>
          <p:nvPr/>
        </p:nvSpPr>
        <p:spPr>
          <a:xfrm>
            <a:off x="6949440" y="3063240"/>
            <a:ext cx="4480560" cy="731520"/>
          </a:xfrm>
          <a:prstGeom prst="rect">
            <a:avLst/>
          </a:prstGeom>
          <a:noFill/>
          <a:ln/>
        </p:spPr>
        <p:txBody>
          <a:bodyPr wrap="square" lIns="0" tIns="0" rIns="0" bIns="0" rtlCol="0" anchor="ctr"/>
          <a:lstStyle/>
          <a:p>
            <a:pPr indent="0" marL="0">
              <a:buNone/>
            </a:pPr>
            <a:r>
              <a:rPr lang="en-US" sz="4000" b="1" dirty="0">
                <a:solidFill>
                  <a:schemeClr val="accent1"/>
                </a:solidFill>
              </a:rPr>
              <a:t>3/4</a:t>
            </a:r>
            <a:endParaRPr lang="en-US" sz="4000" dirty="0"/>
          </a:p>
        </p:txBody>
      </p:sp>
      <p:sp>
        <p:nvSpPr>
          <p:cNvPr id="8" name="Right label 2"/>
          <p:cNvSpPr txBox="1"/>
          <p:nvPr/>
        </p:nvSpPr>
        <p:spPr>
          <a:xfrm>
            <a:off x="6949440" y="3794760"/>
            <a:ext cx="4480560" cy="640080"/>
          </a:xfrm>
          <a:prstGeom prst="rect">
            <a:avLst/>
          </a:prstGeom>
          <a:noFill/>
          <a:ln/>
        </p:spPr>
        <p:txBody>
          <a:bodyPr wrap="square" lIns="0" tIns="0" rIns="0" bIns="0" rtlCol="0" anchor="t"/>
          <a:lstStyle/>
          <a:p>
            <a:pPr indent="0" marL="0">
              <a:buNone/>
            </a:pPr>
            <a:r>
              <a:rPr lang="en-US" sz="1600" dirty="0">
                <a:solidFill>
                  <a:schemeClr val="tx2"/>
                </a:solidFill>
              </a:rPr>
              <a:t>unanswerable questions correctly refused</a:t>
            </a:r>
            <a:endParaRPr lang="en-US" sz="1600" dirty="0"/>
          </a:p>
        </p:txBody>
      </p:sp>
      <p:sp>
        <p:nvSpPr>
          <p:cNvPr id="9" name="Right stat 3"/>
          <p:cNvSpPr txBox="1"/>
          <p:nvPr/>
        </p:nvSpPr>
        <p:spPr>
          <a:xfrm>
            <a:off x="6949440" y="4526280"/>
            <a:ext cx="4480560" cy="731520"/>
          </a:xfrm>
          <a:prstGeom prst="rect">
            <a:avLst/>
          </a:prstGeom>
          <a:noFill/>
          <a:ln/>
        </p:spPr>
        <p:txBody>
          <a:bodyPr wrap="square" lIns="0" tIns="0" rIns="0" bIns="0" rtlCol="0" anchor="ctr"/>
          <a:lstStyle/>
          <a:p>
            <a:pPr indent="0" marL="0">
              <a:buNone/>
            </a:pPr>
            <a:r>
              <a:rPr lang="en-US" sz="4000" b="1" dirty="0">
                <a:solidFill>
                  <a:schemeClr val="accent1"/>
                </a:solidFill>
              </a:rPr>
              <a:t>62%</a:t>
            </a:r>
            <a:endParaRPr lang="en-US" sz="4000" dirty="0"/>
          </a:p>
        </p:txBody>
      </p:sp>
      <p:sp>
        <p:nvSpPr>
          <p:cNvPr id="10" name="Right label 3"/>
          <p:cNvSpPr txBox="1"/>
          <p:nvPr/>
        </p:nvSpPr>
        <p:spPr>
          <a:xfrm>
            <a:off x="6949440" y="5257800"/>
            <a:ext cx="4480560" cy="640080"/>
          </a:xfrm>
          <a:prstGeom prst="rect">
            <a:avLst/>
          </a:prstGeom>
          <a:noFill/>
          <a:ln/>
        </p:spPr>
        <p:txBody>
          <a:bodyPr wrap="square" lIns="0" tIns="0" rIns="0" bIns="0" rtlCol="0" anchor="t"/>
          <a:lstStyle/>
          <a:p>
            <a:pPr indent="0" marL="0">
              <a:buNone/>
            </a:pPr>
            <a:r>
              <a:rPr lang="en-US" sz="1600" dirty="0">
                <a:solidFill>
                  <a:schemeClr val="tx2"/>
                </a:solidFill>
              </a:rPr>
              <a:t>F1 identifying the services, DIDs and routines in 16 plain-English requirements</a:t>
            </a:r>
            <a:endParaRPr lang="en-US" sz="1600" dirty="0"/>
          </a:p>
        </p:txBody>
      </p:sp>
      <p:sp>
        <p:nvSpPr>
          <p:cNvPr id="11" name="Footnote"/>
          <p:cNvSpPr txBox="1"/>
          <p:nvPr/>
        </p:nvSpPr>
        <p:spPr>
          <a:xfrm>
            <a:off x="731520" y="6355080"/>
            <a:ext cx="9875520" cy="274320"/>
          </a:xfrm>
          <a:prstGeom prst="rect">
            <a:avLst/>
          </a:prstGeom>
          <a:noFill/>
          <a:ln/>
        </p:spPr>
        <p:txBody>
          <a:bodyPr wrap="square" lIns="0" tIns="0" rIns="0" bIns="0" rtlCol="0" anchor="ctr"/>
          <a:lstStyle/>
          <a:p>
            <a:pPr indent="0" marL="0">
              <a:buNone/>
            </a:pPr>
            <a:r>
              <a:rPr lang="en-US" sz="1000" dirty="0">
                <a:solidFill>
                  <a:schemeClr val="tx2"/>
                </a:solidFill>
              </a:rPr>
              <a:t>Blind sets written without seeing the templates: 15 bugs, 25 questions, 16 requirements. Tool time is about 20 s per requirement; the manual baseline is not yet measured.</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UDS Minimal">
  <a:themeElements>
    <a:clrScheme name="UDS Minimal">
      <a:dk1>
        <a:srgbClr val="1B2430"/>
      </a:dk1>
      <a:lt1>
        <a:srgbClr val="FFFFFF"/>
      </a:lt1>
      <a:dk2>
        <a:srgbClr val="5B6673"/>
      </a:dk2>
      <a:lt2>
        <a:srgbClr val="F2F5F7"/>
      </a:lt2>
      <a:accent1>
        <a:srgbClr val="0E7C86"/>
      </a:accent1>
      <a:accent2>
        <a:srgbClr val="1B2430"/>
      </a:accent2>
      <a:accent3>
        <a:srgbClr val="9AA5B1"/>
      </a:accent3>
      <a:accent4>
        <a:srgbClr val="C2410C"/>
      </a:accent4>
      <a:accent5>
        <a:srgbClr val="0E7C86"/>
      </a:accent5>
      <a:accent6>
        <a:srgbClr val="5B6673"/>
      </a:accent6>
      <a:hlink>
        <a:srgbClr val="0E7C86"/>
      </a:hlink>
      <a:folHlink>
        <a:srgbClr val="5B6673"/>
      </a:folHlink>
    </a:clrScheme>
    <a:fontScheme name="UDS Minim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UDS Diagnostics and Automated Test Generation Assistant</dc:title>
  <dc:subject>PptxGenJS Presentation</dc:subject>
  <dc:creator>PptxGenJS</dc:creator>
  <cp:lastModifiedBy>PptxGenJS</cp:lastModifiedBy>
  <cp:revision>1</cp:revision>
  <dcterms:created xsi:type="dcterms:W3CDTF">2026-10-06T08:20:23Z</dcterms:created>
  <dcterms:modified xsi:type="dcterms:W3CDTF">2026-10-06T08:20:23Z</dcterms:modified>
</cp:coreProperties>
</file>